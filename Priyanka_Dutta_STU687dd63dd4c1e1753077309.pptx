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968">
          <p15:clr>
            <a:srgbClr val="A4A3A4"/>
          </p15:clr>
        </p15:guide>
        <p15:guide id="2" pos="408">
          <p15:clr>
            <a:srgbClr val="A4A3A4"/>
          </p15:clr>
        </p15:guide>
        <p15:guide id="3" orient="horz" pos="3912">
          <p15:clr>
            <a:srgbClr val="A4A3A4"/>
          </p15:clr>
        </p15:guide>
        <p15:guide id="4" pos="7272">
          <p15:clr>
            <a:srgbClr val="A4A3A4"/>
          </p15:clr>
        </p15:guide>
        <p15:guide id="5" orient="horz" pos="16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968" orient="horz"/>
        <p:guide pos="408"/>
        <p:guide pos="3912" orient="horz"/>
        <p:guide pos="7272"/>
        <p:guide pos="165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409c7524b0e_1_14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409c7524b0e_1_14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409cbfe18b6_0_15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409cbfe18b6_0_15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409cbfe18b6_0_25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409cbfe18b6_0_25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409cbfe18b6_0_38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g409cbfe18b6_0_38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409cbfe18b6_0_30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g409cbfe18b6_0_30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409cbfe18b6_0_32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g409cbfe18b6_0_32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409cbfe18b6_0_48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g409cbfe18b6_0_48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 txBox="1"/>
          <p:nvPr>
            <p:ph idx="1" type="body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31" name="Google Shape;31;p2"/>
          <p:cNvSpPr/>
          <p:nvPr/>
        </p:nvSpPr>
        <p:spPr>
          <a:xfrm>
            <a:off x="740309" y="1382809"/>
            <a:ext cx="1229566" cy="1059971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755031" y="1194620"/>
            <a:ext cx="1666162" cy="1436347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804994" y="5233183"/>
            <a:ext cx="718261" cy="619191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837838" y="1101306"/>
            <a:ext cx="651613" cy="561736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" name="Google Shape;35;p2"/>
          <p:cNvSpPr/>
          <p:nvPr>
            <p:ph idx="2" type="pic"/>
          </p:nvPr>
        </p:nvSpPr>
        <p:spPr>
          <a:xfrm>
            <a:off x="1571515" y="1914044"/>
            <a:ext cx="3993624" cy="3617848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2"/>
          <p:cNvSpPr txBox="1"/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  <a:defRPr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7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idx="1" type="body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3pPr>
            <a:lvl4pPr indent="-309880" lvl="3" marL="18288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4pPr>
            <a:lvl5pPr indent="-309880" lvl="4" marL="22860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39" name="Google Shape;39;p3"/>
          <p:cNvSpPr/>
          <p:nvPr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" name="Google Shape;42;p3"/>
          <p:cNvSpPr/>
          <p:nvPr>
            <p:ph idx="2" type="pic"/>
          </p:nvPr>
        </p:nvSpPr>
        <p:spPr>
          <a:xfrm>
            <a:off x="7090227" y="786181"/>
            <a:ext cx="4441372" cy="5393036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3"/>
          <p:cNvSpPr txBox="1"/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  <a:defRPr b="1" sz="4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Introduc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8" name="Google Shape;48;p4"/>
          <p:cNvSpPr/>
          <p:nvPr>
            <p:ph idx="2" type="pic"/>
          </p:nvPr>
        </p:nvSpPr>
        <p:spPr>
          <a:xfrm>
            <a:off x="5733416" y="624239"/>
            <a:ext cx="5855754" cy="5631571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4"/>
          <p:cNvSpPr txBox="1"/>
          <p:nvPr>
            <p:ph idx="1" type="body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1pPr>
            <a:lvl2pPr indent="-330200" lvl="1" marL="9144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0" name="Google Shape;50;p4"/>
          <p:cNvSpPr txBox="1"/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  <a:defRPr b="1" sz="4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Team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/>
          <p:nvPr>
            <p:ph idx="2" type="pic"/>
          </p:nvPr>
        </p:nvSpPr>
        <p:spPr>
          <a:xfrm>
            <a:off x="5353508" y="2555551"/>
            <a:ext cx="1484985" cy="128016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5"/>
          <p:cNvSpPr/>
          <p:nvPr>
            <p:ph idx="3" type="pic"/>
          </p:nvPr>
        </p:nvSpPr>
        <p:spPr>
          <a:xfrm>
            <a:off x="3115921" y="2555551"/>
            <a:ext cx="1484985" cy="128016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5"/>
          <p:cNvSpPr/>
          <p:nvPr>
            <p:ph idx="4" type="pic"/>
          </p:nvPr>
        </p:nvSpPr>
        <p:spPr>
          <a:xfrm>
            <a:off x="7602465" y="2555551"/>
            <a:ext cx="1484985" cy="128016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5"/>
          <p:cNvSpPr/>
          <p:nvPr>
            <p:ph idx="5" type="pic"/>
          </p:nvPr>
        </p:nvSpPr>
        <p:spPr>
          <a:xfrm>
            <a:off x="9840051" y="2555551"/>
            <a:ext cx="1484985" cy="128016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5"/>
          <p:cNvSpPr txBox="1"/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"/>
          <p:cNvSpPr/>
          <p:nvPr/>
        </p:nvSpPr>
        <p:spPr>
          <a:xfrm>
            <a:off x="546669" y="3467555"/>
            <a:ext cx="458268" cy="395059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1113337" y="2394722"/>
            <a:ext cx="358391" cy="308958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0882649" y="2202202"/>
            <a:ext cx="230688" cy="198869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0" name="Google Shape;60;p5"/>
          <p:cNvSpPr txBox="1"/>
          <p:nvPr>
            <p:ph idx="1" type="body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idx="6" type="body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7" type="body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8" type="body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4" name="Google Shape;64;p5"/>
          <p:cNvSpPr txBox="1"/>
          <p:nvPr>
            <p:ph idx="9" type="body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5" name="Google Shape;65;p5"/>
          <p:cNvSpPr txBox="1"/>
          <p:nvPr>
            <p:ph idx="13" type="body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6" name="Google Shape;66;p5"/>
          <p:cNvSpPr txBox="1"/>
          <p:nvPr>
            <p:ph idx="14" type="body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7" name="Google Shape;67;p5"/>
          <p:cNvSpPr txBox="1"/>
          <p:nvPr>
            <p:ph idx="15" type="body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16" type="body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9" name="Google Shape;69;p5"/>
          <p:cNvSpPr txBox="1"/>
          <p:nvPr>
            <p:ph idx="17" type="body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0" name="Google Shape;70;p5"/>
          <p:cNvSpPr/>
          <p:nvPr>
            <p:ph idx="18" type="pic"/>
          </p:nvPr>
        </p:nvSpPr>
        <p:spPr>
          <a:xfrm>
            <a:off x="878337" y="2555551"/>
            <a:ext cx="1484985" cy="128016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73" name="Google Shape;73;p6"/>
            <p:cNvSpPr/>
            <p:nvPr/>
          </p:nvSpPr>
          <p:spPr>
            <a:xfrm>
              <a:off x="0" y="-7862"/>
              <a:ext cx="863600" cy="5698067"/>
            </a:xfrm>
            <a:custGeom>
              <a:rect b="b" l="l" r="r" t="t"/>
              <a:pathLst>
                <a:path extrusionOk="0" h="5698067" w="86360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196"/>
              </a:schemeClr>
            </a:solidFill>
            <a:ln>
              <a:noFill/>
            </a:ln>
          </p:spPr>
        </p:sp>
        <p:cxnSp>
          <p:nvCxnSpPr>
            <p:cNvPr id="74" name="Google Shape;74;p6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7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" name="Google Shape;75;p6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7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6" name="Google Shape;76;p6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78"/>
              </a:schemeClr>
            </a:solidFill>
            <a:ln>
              <a:noFill/>
            </a:ln>
          </p:spPr>
        </p:sp>
        <p:sp>
          <p:nvSpPr>
            <p:cNvPr id="77" name="Google Shape;77;p6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78" name="Google Shape;78;p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6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50196"/>
              </a:srgbClr>
            </a:solidFill>
            <a:ln>
              <a:noFill/>
            </a:ln>
          </p:spPr>
        </p:sp>
        <p:sp>
          <p:nvSpPr>
            <p:cNvPr id="80" name="Google Shape;80;p6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196"/>
              </a:schemeClr>
            </a:solidFill>
            <a:ln>
              <a:noFill/>
            </a:ln>
          </p:spPr>
        </p:sp>
        <p:sp>
          <p:nvSpPr>
            <p:cNvPr id="81" name="Google Shape;81;p6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>
              <a:noFill/>
            </a:ln>
          </p:spPr>
        </p:sp>
        <p:sp>
          <p:nvSpPr>
            <p:cNvPr id="82" name="Google Shape;82;p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" name="Google Shape;83;p6"/>
          <p:cNvSpPr txBox="1"/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"/>
          <p:cNvSpPr txBox="1"/>
          <p:nvPr>
            <p:ph idx="1" type="subTitle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5" name="Google Shape;85;p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7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91" name="Google Shape;91;p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"/>
          <p:cNvSpPr txBox="1"/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8"/>
          <p:cNvSpPr txBox="1"/>
          <p:nvPr>
            <p:ph idx="1" type="body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" type="body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03" name="Google Shape;103;p9"/>
          <p:cNvSpPr txBox="1"/>
          <p:nvPr>
            <p:ph idx="2" type="body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04" name="Google Shape;104;p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0"/>
          <p:cNvSpPr txBox="1"/>
          <p:nvPr>
            <p:ph idx="1" type="body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0" name="Google Shape;110;p10"/>
          <p:cNvSpPr txBox="1"/>
          <p:nvPr>
            <p:ph idx="2" type="body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1" name="Google Shape;111;p10"/>
          <p:cNvSpPr txBox="1"/>
          <p:nvPr>
            <p:ph idx="3" type="body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2" name="Google Shape;112;p10"/>
          <p:cNvSpPr txBox="1"/>
          <p:nvPr>
            <p:ph idx="4" type="body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3" name="Google Shape;113;p1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 txBox="1"/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3"/>
          <p:cNvSpPr txBox="1"/>
          <p:nvPr>
            <p:ph idx="1" type="body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8" name="Google Shape;128;p13"/>
          <p:cNvSpPr txBox="1"/>
          <p:nvPr>
            <p:ph idx="2" type="body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129" name="Google Shape;129;p1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4"/>
          <p:cNvSpPr/>
          <p:nvPr>
            <p:ph idx="2" type="pic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36" name="Google Shape;136;p1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1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8" name="Google Shape;148;p16"/>
          <p:cNvSpPr txBox="1"/>
          <p:nvPr>
            <p:ph idx="2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/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7"/>
          <p:cNvSpPr txBox="1"/>
          <p:nvPr>
            <p:ph idx="1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7" name="Google Shape;157;p1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8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63" name="Google Shape;163;p18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4" name="Google Shape;164;p1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72" name="Google Shape;172;p19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3" name="Google Shape;173;p1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0"/>
          <p:cNvSpPr txBox="1"/>
          <p:nvPr>
            <p:ph idx="1" type="body"/>
          </p:nvPr>
        </p:nvSpPr>
        <p:spPr>
          <a:xfrm rot="5400000">
            <a:off x="3035281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79" name="Google Shape;179;p2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1"/>
          <p:cNvSpPr txBox="1"/>
          <p:nvPr>
            <p:ph idx="1" type="body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85" name="Google Shape;185;p2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2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 showMasterSp="0">
  <p:cSld name="1_Custom Layout">
    <p:bg>
      <p:bgPr>
        <a:solidFill>
          <a:schemeClr val="dk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descr="Tall office building looking up" id="190" name="Google Shape;190;p22"/>
          <p:cNvSpPr/>
          <p:nvPr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cap="flat" cmpd="sng" w="60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1" name="Google Shape;191;p22"/>
          <p:cNvSpPr txBox="1"/>
          <p:nvPr>
            <p:ph idx="1" type="body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1000"/>
              </a:spcBef>
              <a:spcAft>
                <a:spcPts val="0"/>
              </a:spcAft>
              <a:buSzPts val="1920"/>
              <a:buNone/>
              <a:defRPr b="1" sz="24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None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92" name="Google Shape;192;p22"/>
          <p:cNvSpPr txBox="1"/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rebuchet MS"/>
              <a:buNone/>
              <a:defRPr b="1" sz="48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Quote (g409c7524b0e_11_0)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idx="1" type="body"/>
          </p:nvPr>
        </p:nvSpPr>
        <p:spPr>
          <a:xfrm>
            <a:off x="6312871" y="4141999"/>
            <a:ext cx="42207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95" name="Google Shape;195;p23"/>
          <p:cNvSpPr/>
          <p:nvPr>
            <p:ph idx="2" type="pic"/>
          </p:nvPr>
        </p:nvSpPr>
        <p:spPr>
          <a:xfrm>
            <a:off x="1571515" y="1914044"/>
            <a:ext cx="3993600" cy="36177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3"/>
          <p:cNvSpPr txBox="1"/>
          <p:nvPr>
            <p:ph type="title"/>
          </p:nvPr>
        </p:nvSpPr>
        <p:spPr>
          <a:xfrm>
            <a:off x="6312871" y="2050552"/>
            <a:ext cx="4998600" cy="17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  <a:defRPr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72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1">
  <p:cSld name="Agenda (g409c7852e87_26_0)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idx="1" type="body"/>
          </p:nvPr>
        </p:nvSpPr>
        <p:spPr>
          <a:xfrm>
            <a:off x="660400" y="2044700"/>
            <a:ext cx="4275000" cy="3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3pPr>
            <a:lvl4pPr indent="-309880" lvl="3" marL="18288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4pPr>
            <a:lvl5pPr indent="-309880" lvl="4" marL="22860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99" name="Google Shape;199;p24"/>
          <p:cNvSpPr/>
          <p:nvPr>
            <p:ph idx="2" type="pic"/>
          </p:nvPr>
        </p:nvSpPr>
        <p:spPr>
          <a:xfrm>
            <a:off x="7090227" y="786181"/>
            <a:ext cx="4441500" cy="53931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4"/>
          <p:cNvSpPr txBox="1"/>
          <p:nvPr>
            <p:ph type="title"/>
          </p:nvPr>
        </p:nvSpPr>
        <p:spPr>
          <a:xfrm>
            <a:off x="660400" y="805213"/>
            <a:ext cx="427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  <a:defRPr b="1" sz="4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2">
  <p:cSld name="Agenda (g409c7852e87_38_0)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 txBox="1"/>
          <p:nvPr>
            <p:ph idx="1" type="body"/>
          </p:nvPr>
        </p:nvSpPr>
        <p:spPr>
          <a:xfrm>
            <a:off x="660400" y="2044700"/>
            <a:ext cx="4275000" cy="3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3pPr>
            <a:lvl4pPr indent="-309880" lvl="3" marL="18288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4pPr>
            <a:lvl5pPr indent="-309880" lvl="4" marL="22860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03" name="Google Shape;203;p25"/>
          <p:cNvSpPr/>
          <p:nvPr>
            <p:ph idx="2" type="pic"/>
          </p:nvPr>
        </p:nvSpPr>
        <p:spPr>
          <a:xfrm>
            <a:off x="7090227" y="786181"/>
            <a:ext cx="4441500" cy="53931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5"/>
          <p:cNvSpPr txBox="1"/>
          <p:nvPr>
            <p:ph type="title"/>
          </p:nvPr>
        </p:nvSpPr>
        <p:spPr>
          <a:xfrm>
            <a:off x="660400" y="805213"/>
            <a:ext cx="427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  <a:defRPr b="1" sz="4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3">
  <p:cSld name="Agenda (g409c7852e87_51_0)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/>
          <p:nvPr>
            <p:ph idx="1" type="body"/>
          </p:nvPr>
        </p:nvSpPr>
        <p:spPr>
          <a:xfrm>
            <a:off x="660400" y="2044700"/>
            <a:ext cx="4275000" cy="3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3pPr>
            <a:lvl4pPr indent="-309880" lvl="3" marL="18288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4pPr>
            <a:lvl5pPr indent="-309880" lvl="4" marL="22860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07" name="Google Shape;207;p26"/>
          <p:cNvSpPr/>
          <p:nvPr>
            <p:ph idx="2" type="pic"/>
          </p:nvPr>
        </p:nvSpPr>
        <p:spPr>
          <a:xfrm>
            <a:off x="7090227" y="786181"/>
            <a:ext cx="4441500" cy="53931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6"/>
          <p:cNvSpPr txBox="1"/>
          <p:nvPr>
            <p:ph type="title"/>
          </p:nvPr>
        </p:nvSpPr>
        <p:spPr>
          <a:xfrm>
            <a:off x="660400" y="805213"/>
            <a:ext cx="427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  <a:defRPr b="1" sz="4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4">
  <p:cSld name="Agenda (g409c7852e87_71_0)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 txBox="1"/>
          <p:nvPr>
            <p:ph idx="1" type="body"/>
          </p:nvPr>
        </p:nvSpPr>
        <p:spPr>
          <a:xfrm>
            <a:off x="660400" y="2044700"/>
            <a:ext cx="4275000" cy="3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3pPr>
            <a:lvl4pPr indent="-309880" lvl="3" marL="18288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4pPr>
            <a:lvl5pPr indent="-309880" lvl="4" marL="22860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11" name="Google Shape;211;p27"/>
          <p:cNvSpPr/>
          <p:nvPr>
            <p:ph idx="2" type="pic"/>
          </p:nvPr>
        </p:nvSpPr>
        <p:spPr>
          <a:xfrm>
            <a:off x="7090227" y="786181"/>
            <a:ext cx="4441500" cy="5393100"/>
          </a:xfrm>
          <a:prstGeom prst="rect">
            <a:avLst/>
          </a:prstGeom>
          <a:noFill/>
          <a:ln>
            <a:noFill/>
          </a:ln>
        </p:spPr>
      </p:sp>
      <p:sp>
        <p:nvSpPr>
          <p:cNvPr id="212" name="Google Shape;212;p27"/>
          <p:cNvSpPr txBox="1"/>
          <p:nvPr>
            <p:ph type="title"/>
          </p:nvPr>
        </p:nvSpPr>
        <p:spPr>
          <a:xfrm>
            <a:off x="660400" y="805213"/>
            <a:ext cx="427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  <a:defRPr b="1" sz="4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5">
  <p:cSld name="Agenda (g409c7852e87_80_0)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/>
          <p:nvPr>
            <p:ph idx="1" type="body"/>
          </p:nvPr>
        </p:nvSpPr>
        <p:spPr>
          <a:xfrm>
            <a:off x="660400" y="2044700"/>
            <a:ext cx="4275000" cy="3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3pPr>
            <a:lvl4pPr indent="-309880" lvl="3" marL="18288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4pPr>
            <a:lvl5pPr indent="-309880" lvl="4" marL="22860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15" name="Google Shape;215;p28"/>
          <p:cNvSpPr/>
          <p:nvPr>
            <p:ph idx="2" type="pic"/>
          </p:nvPr>
        </p:nvSpPr>
        <p:spPr>
          <a:xfrm>
            <a:off x="7090227" y="786181"/>
            <a:ext cx="4441500" cy="5393100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28"/>
          <p:cNvSpPr txBox="1"/>
          <p:nvPr>
            <p:ph type="title"/>
          </p:nvPr>
        </p:nvSpPr>
        <p:spPr>
          <a:xfrm>
            <a:off x="660400" y="805213"/>
            <a:ext cx="427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  <a:defRPr b="1" sz="4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 1">
  <p:cSld name="Introduction (g409c7852e87_89_0)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9"/>
          <p:cNvSpPr/>
          <p:nvPr>
            <p:ph idx="2" type="pic"/>
          </p:nvPr>
        </p:nvSpPr>
        <p:spPr>
          <a:xfrm>
            <a:off x="5733416" y="624239"/>
            <a:ext cx="5855700" cy="56316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29"/>
          <p:cNvSpPr txBox="1"/>
          <p:nvPr>
            <p:ph idx="1" type="body"/>
          </p:nvPr>
        </p:nvSpPr>
        <p:spPr>
          <a:xfrm>
            <a:off x="660400" y="2044700"/>
            <a:ext cx="4275000" cy="3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1pPr>
            <a:lvl2pPr indent="-330200" lvl="1" marL="9144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20" name="Google Shape;220;p29"/>
          <p:cNvSpPr txBox="1"/>
          <p:nvPr>
            <p:ph type="title"/>
          </p:nvPr>
        </p:nvSpPr>
        <p:spPr>
          <a:xfrm>
            <a:off x="660400" y="805213"/>
            <a:ext cx="427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  <a:defRPr b="1" sz="4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6">
  <p:cSld name="Agenda (g409cbfe18b6_19_0)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 txBox="1"/>
          <p:nvPr>
            <p:ph idx="1" type="body"/>
          </p:nvPr>
        </p:nvSpPr>
        <p:spPr>
          <a:xfrm>
            <a:off x="660400" y="2044700"/>
            <a:ext cx="4275000" cy="3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3pPr>
            <a:lvl4pPr indent="-309880" lvl="3" marL="18288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4pPr>
            <a:lvl5pPr indent="-309880" lvl="4" marL="22860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23" name="Google Shape;223;p30"/>
          <p:cNvSpPr/>
          <p:nvPr>
            <p:ph idx="2" type="pic"/>
          </p:nvPr>
        </p:nvSpPr>
        <p:spPr>
          <a:xfrm>
            <a:off x="7090227" y="786181"/>
            <a:ext cx="4441500" cy="53931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30"/>
          <p:cNvSpPr txBox="1"/>
          <p:nvPr>
            <p:ph type="title"/>
          </p:nvPr>
        </p:nvSpPr>
        <p:spPr>
          <a:xfrm>
            <a:off x="660400" y="805213"/>
            <a:ext cx="427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  <a:defRPr b="1" sz="4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7">
  <p:cSld name="Agenda (g409cbfe18b6_38_0)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1"/>
          <p:cNvSpPr txBox="1"/>
          <p:nvPr>
            <p:ph idx="1" type="body"/>
          </p:nvPr>
        </p:nvSpPr>
        <p:spPr>
          <a:xfrm>
            <a:off x="660400" y="2044700"/>
            <a:ext cx="4275000" cy="3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3pPr>
            <a:lvl4pPr indent="-309880" lvl="3" marL="18288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4pPr>
            <a:lvl5pPr indent="-309880" lvl="4" marL="22860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27" name="Google Shape;227;p31"/>
          <p:cNvSpPr/>
          <p:nvPr>
            <p:ph idx="2" type="pic"/>
          </p:nvPr>
        </p:nvSpPr>
        <p:spPr>
          <a:xfrm>
            <a:off x="7090227" y="786181"/>
            <a:ext cx="4441500" cy="53931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31"/>
          <p:cNvSpPr txBox="1"/>
          <p:nvPr>
            <p:ph type="title"/>
          </p:nvPr>
        </p:nvSpPr>
        <p:spPr>
          <a:xfrm>
            <a:off x="660400" y="805213"/>
            <a:ext cx="427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  <a:defRPr b="1" sz="4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8">
  <p:cSld name="Agenda (g409cbfe18b6_57_0)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idx="1" type="body"/>
          </p:nvPr>
        </p:nvSpPr>
        <p:spPr>
          <a:xfrm>
            <a:off x="660400" y="2044700"/>
            <a:ext cx="4275000" cy="3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3pPr>
            <a:lvl4pPr indent="-309880" lvl="3" marL="18288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4pPr>
            <a:lvl5pPr indent="-309880" lvl="4" marL="22860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31" name="Google Shape;231;p32"/>
          <p:cNvSpPr/>
          <p:nvPr>
            <p:ph idx="2" type="pic"/>
          </p:nvPr>
        </p:nvSpPr>
        <p:spPr>
          <a:xfrm>
            <a:off x="7090227" y="786181"/>
            <a:ext cx="4441500" cy="53931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32"/>
          <p:cNvSpPr txBox="1"/>
          <p:nvPr>
            <p:ph type="title"/>
          </p:nvPr>
        </p:nvSpPr>
        <p:spPr>
          <a:xfrm>
            <a:off x="660400" y="805213"/>
            <a:ext cx="427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  <a:defRPr b="1" sz="4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9">
  <p:cSld name="Agenda (g409cbfe18b6_67_0)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3"/>
          <p:cNvSpPr txBox="1"/>
          <p:nvPr>
            <p:ph idx="1" type="body"/>
          </p:nvPr>
        </p:nvSpPr>
        <p:spPr>
          <a:xfrm>
            <a:off x="660400" y="2044700"/>
            <a:ext cx="4275000" cy="3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3pPr>
            <a:lvl4pPr indent="-309880" lvl="3" marL="18288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4pPr>
            <a:lvl5pPr indent="-309880" lvl="4" marL="22860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35" name="Google Shape;235;p33"/>
          <p:cNvSpPr/>
          <p:nvPr>
            <p:ph idx="2" type="pic"/>
          </p:nvPr>
        </p:nvSpPr>
        <p:spPr>
          <a:xfrm>
            <a:off x="7090227" y="786181"/>
            <a:ext cx="4441500" cy="53931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33"/>
          <p:cNvSpPr txBox="1"/>
          <p:nvPr>
            <p:ph type="title"/>
          </p:nvPr>
        </p:nvSpPr>
        <p:spPr>
          <a:xfrm>
            <a:off x="660400" y="805213"/>
            <a:ext cx="427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  <a:defRPr b="1" sz="4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10">
  <p:cSld name="Agenda (g409cbfe18b6_84_0)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4"/>
          <p:cNvSpPr txBox="1"/>
          <p:nvPr>
            <p:ph idx="1" type="body"/>
          </p:nvPr>
        </p:nvSpPr>
        <p:spPr>
          <a:xfrm>
            <a:off x="660400" y="2044700"/>
            <a:ext cx="4275000" cy="3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3pPr>
            <a:lvl4pPr indent="-309880" lvl="3" marL="18288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4pPr>
            <a:lvl5pPr indent="-309880" lvl="4" marL="22860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39" name="Google Shape;239;p34"/>
          <p:cNvSpPr/>
          <p:nvPr>
            <p:ph idx="2" type="pic"/>
          </p:nvPr>
        </p:nvSpPr>
        <p:spPr>
          <a:xfrm>
            <a:off x="7090227" y="786181"/>
            <a:ext cx="4441500" cy="53931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34"/>
          <p:cNvSpPr txBox="1"/>
          <p:nvPr>
            <p:ph type="title"/>
          </p:nvPr>
        </p:nvSpPr>
        <p:spPr>
          <a:xfrm>
            <a:off x="660400" y="805213"/>
            <a:ext cx="427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  <a:defRPr b="1" sz="4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11">
  <p:cSld name="Agenda (g409cbfe18b6_93_0)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5"/>
          <p:cNvSpPr txBox="1"/>
          <p:nvPr>
            <p:ph idx="1" type="body"/>
          </p:nvPr>
        </p:nvSpPr>
        <p:spPr>
          <a:xfrm>
            <a:off x="660400" y="2044700"/>
            <a:ext cx="4275000" cy="3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3pPr>
            <a:lvl4pPr indent="-309880" lvl="3" marL="18288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4pPr>
            <a:lvl5pPr indent="-309880" lvl="4" marL="22860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43" name="Google Shape;243;p35"/>
          <p:cNvSpPr/>
          <p:nvPr>
            <p:ph idx="2" type="pic"/>
          </p:nvPr>
        </p:nvSpPr>
        <p:spPr>
          <a:xfrm>
            <a:off x="7090227" y="786181"/>
            <a:ext cx="4441500" cy="53931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35"/>
          <p:cNvSpPr txBox="1"/>
          <p:nvPr>
            <p:ph type="title"/>
          </p:nvPr>
        </p:nvSpPr>
        <p:spPr>
          <a:xfrm>
            <a:off x="660400" y="805213"/>
            <a:ext cx="427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  <a:defRPr b="1" sz="4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Google Shape;11;p1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7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" name="Google Shape;12;p1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7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" name="Google Shape;13;p1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78"/>
              </a:schemeClr>
            </a:solidFill>
            <a:ln>
              <a:noFill/>
            </a:ln>
          </p:spPr>
        </p:sp>
        <p:sp>
          <p:nvSpPr>
            <p:cNvPr id="14" name="Google Shape;14;p1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5" name="Google Shape;15;p1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50196"/>
              </a:srgbClr>
            </a:solidFill>
            <a:ln>
              <a:noFill/>
            </a:ln>
          </p:spPr>
        </p:sp>
        <p:sp>
          <p:nvSpPr>
            <p:cNvPr id="17" name="Google Shape;17;p1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196"/>
              </a:schemeClr>
            </a:solidFill>
            <a:ln>
              <a:noFill/>
            </a:ln>
          </p:spPr>
        </p:sp>
        <p:sp>
          <p:nvSpPr>
            <p:cNvPr id="18" name="Google Shape;18;p1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>
              <a:noFill/>
            </a:ln>
          </p:spPr>
        </p:sp>
        <p:sp>
          <p:nvSpPr>
            <p:cNvPr id="19" name="Google Shape;19;p1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7019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1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2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6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6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3" name="Google Shape;23;p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4" name="Google Shape;24;p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"/>
          <p:cNvSpPr txBox="1"/>
          <p:nvPr/>
        </p:nvSpPr>
        <p:spPr>
          <a:xfrm>
            <a:off x="660396" y="63789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9/9/2026</a:t>
            </a:r>
            <a:endParaRPr b="0" i="0" sz="11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1445526" y="63789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Annual Review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8805338" y="63789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0" i="0" sz="1100" u="none" cap="none" strike="noStrike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.jp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hyperlink" Target="https://github.com/Coder-Pinku/VOIS_Major_Project_Seasonal_Agriculture_Performance_Analysis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1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6"/>
          <p:cNvSpPr txBox="1"/>
          <p:nvPr>
            <p:ph type="title"/>
          </p:nvPr>
        </p:nvSpPr>
        <p:spPr>
          <a:xfrm>
            <a:off x="1343250" y="2251700"/>
            <a:ext cx="9505500" cy="1249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Seasonal Agriculture </a:t>
            </a:r>
            <a:r>
              <a:rPr b="1" lang="en-US" sz="4000">
                <a:latin typeface="Times New Roman"/>
                <a:ea typeface="Times New Roman"/>
                <a:cs typeface="Times New Roman"/>
                <a:sym typeface="Times New Roman"/>
              </a:rPr>
              <a:t>Performance Analysis</a:t>
            </a:r>
            <a:endParaRPr b="1"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36"/>
          <p:cNvSpPr txBox="1"/>
          <p:nvPr>
            <p:ph idx="1" type="body"/>
          </p:nvPr>
        </p:nvSpPr>
        <p:spPr>
          <a:xfrm>
            <a:off x="1343250" y="3589350"/>
            <a:ext cx="6633300" cy="20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6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–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6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Priyanka Dutta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36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of  Kalyani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AICTE STU ID : STU687dd63dd4c1e1753077309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1" name="Google Shape;251;p36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6"/>
          <p:cNvSpPr/>
          <p:nvPr/>
        </p:nvSpPr>
        <p:spPr>
          <a:xfrm>
            <a:off x="5524500" y="3284650"/>
            <a:ext cx="1143000" cy="573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/>
          <p:nvPr>
            <p:ph type="title"/>
          </p:nvPr>
        </p:nvSpPr>
        <p:spPr>
          <a:xfrm>
            <a:off x="762000" y="666750"/>
            <a:ext cx="10668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4000">
              <a:solidFill>
                <a:srgbClr val="0F172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8" name="Google Shape;258;p37"/>
          <p:cNvPicPr preferRelativeResize="0"/>
          <p:nvPr/>
        </p:nvPicPr>
        <p:blipFill rotWithShape="1">
          <a:blip r:embed="rId4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9" name="Google Shape;259;p37"/>
          <p:cNvGrpSpPr/>
          <p:nvPr/>
        </p:nvGrpSpPr>
        <p:grpSpPr>
          <a:xfrm>
            <a:off x="762000" y="1619250"/>
            <a:ext cx="3238500" cy="4191000"/>
            <a:chOff x="0" y="0"/>
            <a:chExt cx="3238500" cy="4191000"/>
          </a:xfrm>
        </p:grpSpPr>
        <p:sp>
          <p:nvSpPr>
            <p:cNvPr id="260" name="Google Shape;260;p37"/>
            <p:cNvSpPr/>
            <p:nvPr/>
          </p:nvSpPr>
          <p:spPr>
            <a:xfrm>
              <a:off x="0" y="0"/>
              <a:ext cx="3238500" cy="4191000"/>
            </a:xfrm>
            <a:prstGeom prst="roundRect">
              <a:avLst>
                <a:gd fmla="val 2352" name="adj"/>
              </a:avLst>
            </a:prstGeom>
            <a:solidFill>
              <a:srgbClr val="F8FAFC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37"/>
            <p:cNvSpPr txBox="1"/>
            <p:nvPr/>
          </p:nvSpPr>
          <p:spPr>
            <a:xfrm>
              <a:off x="0" y="0"/>
              <a:ext cx="32385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5750" lIns="285750" spcFirstLastPara="1" rIns="285750" wrap="square" tIns="285750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2E83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Reality</a:t>
              </a:r>
              <a:endParaRPr b="1" sz="2400">
                <a:solidFill>
                  <a:srgbClr val="2E83C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just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Agricultural performance shifts heavily from season to season due to changing weather and resource availability.</a:t>
              </a:r>
              <a:endParaRPr sz="180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62" name="Google Shape;262;p37"/>
          <p:cNvGrpSpPr/>
          <p:nvPr/>
        </p:nvGrpSpPr>
        <p:grpSpPr>
          <a:xfrm>
            <a:off x="4476750" y="1619250"/>
            <a:ext cx="3238500" cy="4191000"/>
            <a:chOff x="0" y="0"/>
            <a:chExt cx="3238500" cy="4191000"/>
          </a:xfrm>
        </p:grpSpPr>
        <p:sp>
          <p:nvSpPr>
            <p:cNvPr id="263" name="Google Shape;263;p37"/>
            <p:cNvSpPr/>
            <p:nvPr/>
          </p:nvSpPr>
          <p:spPr>
            <a:xfrm>
              <a:off x="0" y="0"/>
              <a:ext cx="3238500" cy="4191000"/>
            </a:xfrm>
            <a:prstGeom prst="roundRect">
              <a:avLst>
                <a:gd fmla="val 2352" name="adj"/>
              </a:avLst>
            </a:prstGeom>
            <a:solidFill>
              <a:srgbClr val="FFF7ED"/>
            </a:solidFill>
            <a:ln cap="flat" cmpd="sng" w="14300">
              <a:solidFill>
                <a:srgbClr val="FED7A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37"/>
            <p:cNvSpPr txBox="1"/>
            <p:nvPr/>
          </p:nvSpPr>
          <p:spPr>
            <a:xfrm>
              <a:off x="0" y="0"/>
              <a:ext cx="32385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5750" lIns="285750" spcFirstLastPara="1" rIns="285750" wrap="square" tIns="285750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EA580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Gap</a:t>
              </a:r>
              <a:endParaRPr b="1" sz="2400">
                <a:solidFill>
                  <a:srgbClr val="EA580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just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43140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Without analyzing historical data, it is difficult to spot the exact trends or predict how the seasonal changes impact total yield.</a:t>
              </a:r>
              <a:endParaRPr sz="1800">
                <a:solidFill>
                  <a:srgbClr val="431407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65" name="Google Shape;265;p37"/>
          <p:cNvGrpSpPr/>
          <p:nvPr/>
        </p:nvGrpSpPr>
        <p:grpSpPr>
          <a:xfrm>
            <a:off x="8191500" y="1619250"/>
            <a:ext cx="3238500" cy="4191000"/>
            <a:chOff x="0" y="0"/>
            <a:chExt cx="3238500" cy="4191000"/>
          </a:xfrm>
        </p:grpSpPr>
        <p:sp>
          <p:nvSpPr>
            <p:cNvPr id="266" name="Google Shape;266;p37"/>
            <p:cNvSpPr/>
            <p:nvPr/>
          </p:nvSpPr>
          <p:spPr>
            <a:xfrm>
              <a:off x="0" y="0"/>
              <a:ext cx="3238500" cy="4191000"/>
            </a:xfrm>
            <a:prstGeom prst="roundRect">
              <a:avLst>
                <a:gd fmla="val 2352" name="adj"/>
              </a:avLst>
            </a:prstGeom>
            <a:solidFill>
              <a:srgbClr val="F0FDF4"/>
            </a:solidFill>
            <a:ln cap="flat" cmpd="sng" w="14300">
              <a:solidFill>
                <a:srgbClr val="BBF7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37"/>
            <p:cNvSpPr txBox="1"/>
            <p:nvPr/>
          </p:nvSpPr>
          <p:spPr>
            <a:xfrm>
              <a:off x="0" y="0"/>
              <a:ext cx="32385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5750" lIns="285750" spcFirstLastPara="1" rIns="285750" wrap="square" tIns="285750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6A3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Objective</a:t>
              </a:r>
              <a:endParaRPr b="1" sz="2400">
                <a:solidFill>
                  <a:srgbClr val="16A3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just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14532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 analyze the dataset, uncover hidden seasonal patterns, and provide data-driven insights for better agricultural planning.</a:t>
              </a:r>
              <a:endParaRPr sz="1800">
                <a:solidFill>
                  <a:srgbClr val="14532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268" name="Google Shape;268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1398090">
            <a:off x="10029602" y="4313327"/>
            <a:ext cx="2003723" cy="2369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/>
          <p:nvPr>
            <p:ph type="title"/>
          </p:nvPr>
        </p:nvSpPr>
        <p:spPr>
          <a:xfrm>
            <a:off x="660399" y="805213"/>
            <a:ext cx="627610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Project Description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4" name="Google Shape;274;p38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359" y="6410461"/>
            <a:ext cx="3706253" cy="2960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6" name="Google Shape;276;p38"/>
          <p:cNvGrpSpPr/>
          <p:nvPr/>
        </p:nvGrpSpPr>
        <p:grpSpPr>
          <a:xfrm>
            <a:off x="762000" y="1714500"/>
            <a:ext cx="2381400" cy="4000500"/>
            <a:chOff x="0" y="0"/>
            <a:chExt cx="2381400" cy="4000500"/>
          </a:xfrm>
        </p:grpSpPr>
        <p:sp>
          <p:nvSpPr>
            <p:cNvPr id="277" name="Google Shape;277;p38"/>
            <p:cNvSpPr/>
            <p:nvPr/>
          </p:nvSpPr>
          <p:spPr>
            <a:xfrm>
              <a:off x="0" y="0"/>
              <a:ext cx="2381400" cy="4000500"/>
            </a:xfrm>
            <a:prstGeom prst="roundRect">
              <a:avLst>
                <a:gd fmla="val 3200" name="adj"/>
              </a:avLst>
            </a:prstGeom>
            <a:solidFill>
              <a:srgbClr val="F8FAFC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38"/>
            <p:cNvSpPr txBox="1"/>
            <p:nvPr/>
          </p:nvSpPr>
          <p:spPr>
            <a:xfrm>
              <a:off x="0" y="0"/>
              <a:ext cx="23814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190500" spcFirstLastPara="1" rIns="190500" wrap="square" tIns="228600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rgbClr val="2E83C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just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2E83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Focus Area</a:t>
              </a:r>
              <a:endParaRPr b="1" sz="2400">
                <a:solidFill>
                  <a:srgbClr val="2E83C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just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Analyzing an agricultural dataset to evaluate how farming performance changes across seasons.</a:t>
              </a:r>
              <a:endParaRPr sz="180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79" name="Google Shape;279;p38"/>
          <p:cNvGrpSpPr/>
          <p:nvPr/>
        </p:nvGrpSpPr>
        <p:grpSpPr>
          <a:xfrm>
            <a:off x="3524250" y="1714500"/>
            <a:ext cx="2381400" cy="4000500"/>
            <a:chOff x="0" y="0"/>
            <a:chExt cx="2381400" cy="4000500"/>
          </a:xfrm>
        </p:grpSpPr>
        <p:sp>
          <p:nvSpPr>
            <p:cNvPr id="280" name="Google Shape;280;p38"/>
            <p:cNvSpPr/>
            <p:nvPr/>
          </p:nvSpPr>
          <p:spPr>
            <a:xfrm>
              <a:off x="0" y="0"/>
              <a:ext cx="2381400" cy="4000500"/>
            </a:xfrm>
            <a:prstGeom prst="roundRect">
              <a:avLst>
                <a:gd fmla="val 3200" name="adj"/>
              </a:avLst>
            </a:prstGeom>
            <a:solidFill>
              <a:srgbClr val="FFF7ED"/>
            </a:solidFill>
            <a:ln cap="flat" cmpd="sng" w="14300">
              <a:solidFill>
                <a:srgbClr val="FED7A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38"/>
            <p:cNvSpPr txBox="1"/>
            <p:nvPr/>
          </p:nvSpPr>
          <p:spPr>
            <a:xfrm>
              <a:off x="0" y="0"/>
              <a:ext cx="23814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190500" spcFirstLastPara="1" rIns="190500" wrap="square" tIns="228600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rgbClr val="EA580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just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EA580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Challenge</a:t>
              </a:r>
              <a:endParaRPr b="1" sz="2400">
                <a:solidFill>
                  <a:srgbClr val="EA580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just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43140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Weather, resource shifts, and changing farming practices make seasonal production highly unpredictable.</a:t>
              </a:r>
              <a:endParaRPr sz="1800">
                <a:solidFill>
                  <a:srgbClr val="431407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82" name="Google Shape;282;p38"/>
          <p:cNvGrpSpPr/>
          <p:nvPr/>
        </p:nvGrpSpPr>
        <p:grpSpPr>
          <a:xfrm>
            <a:off x="6286500" y="1714500"/>
            <a:ext cx="2381400" cy="4000500"/>
            <a:chOff x="0" y="0"/>
            <a:chExt cx="2381400" cy="4000500"/>
          </a:xfrm>
        </p:grpSpPr>
        <p:sp>
          <p:nvSpPr>
            <p:cNvPr id="283" name="Google Shape;283;p38"/>
            <p:cNvSpPr/>
            <p:nvPr/>
          </p:nvSpPr>
          <p:spPr>
            <a:xfrm>
              <a:off x="0" y="0"/>
              <a:ext cx="2381400" cy="4000500"/>
            </a:xfrm>
            <a:prstGeom prst="roundRect">
              <a:avLst>
                <a:gd fmla="val 3200" name="adj"/>
              </a:avLst>
            </a:prstGeom>
            <a:solidFill>
              <a:srgbClr val="ECFEFF"/>
            </a:solidFill>
            <a:ln cap="flat" cmpd="sng" w="14300">
              <a:solidFill>
                <a:srgbClr val="A5F3F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38"/>
            <p:cNvSpPr txBox="1"/>
            <p:nvPr/>
          </p:nvSpPr>
          <p:spPr>
            <a:xfrm>
              <a:off x="0" y="0"/>
              <a:ext cx="23814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190500" spcFirstLastPara="1" rIns="190500" wrap="square" tIns="228600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rgbClr val="0891B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just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891B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Methodology</a:t>
              </a:r>
              <a:endParaRPr b="1" sz="2400">
                <a:solidFill>
                  <a:srgbClr val="0891B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just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164E6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Exploring the data using statistical analysis and visualization to find hidden trends and relationships.</a:t>
              </a:r>
              <a:endParaRPr sz="1800">
                <a:solidFill>
                  <a:srgbClr val="164E6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85" name="Google Shape;285;p38"/>
          <p:cNvGrpSpPr/>
          <p:nvPr/>
        </p:nvGrpSpPr>
        <p:grpSpPr>
          <a:xfrm>
            <a:off x="9048750" y="1714500"/>
            <a:ext cx="2381400" cy="4000500"/>
            <a:chOff x="0" y="0"/>
            <a:chExt cx="2381400" cy="4000500"/>
          </a:xfrm>
        </p:grpSpPr>
        <p:sp>
          <p:nvSpPr>
            <p:cNvPr id="286" name="Google Shape;286;p38"/>
            <p:cNvSpPr/>
            <p:nvPr/>
          </p:nvSpPr>
          <p:spPr>
            <a:xfrm>
              <a:off x="0" y="0"/>
              <a:ext cx="2381400" cy="4000500"/>
            </a:xfrm>
            <a:prstGeom prst="roundRect">
              <a:avLst>
                <a:gd fmla="val 3200" name="adj"/>
              </a:avLst>
            </a:prstGeom>
            <a:solidFill>
              <a:srgbClr val="F0FDF4"/>
            </a:solidFill>
            <a:ln cap="flat" cmpd="sng" w="14300">
              <a:solidFill>
                <a:srgbClr val="BBF7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38"/>
            <p:cNvSpPr txBox="1"/>
            <p:nvPr/>
          </p:nvSpPr>
          <p:spPr>
            <a:xfrm>
              <a:off x="0" y="0"/>
              <a:ext cx="23814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190500" spcFirstLastPara="1" rIns="190500" wrap="square" tIns="228600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rgbClr val="16A3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just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6A3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Ultimate Goal</a:t>
              </a:r>
              <a:endParaRPr b="1" sz="2400">
                <a:solidFill>
                  <a:srgbClr val="16A3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just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14532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Turn raw data into practical, evidence-based insights to improve future agricultural planning.</a:t>
              </a:r>
              <a:endParaRPr sz="1800">
                <a:solidFill>
                  <a:srgbClr val="14532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9"/>
          <p:cNvSpPr txBox="1"/>
          <p:nvPr>
            <p:ph type="title"/>
          </p:nvPr>
        </p:nvSpPr>
        <p:spPr>
          <a:xfrm>
            <a:off x="620008" y="876617"/>
            <a:ext cx="100461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TARGET</a:t>
            </a: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 END USERS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3" name="Google Shape;29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359" y="6176804"/>
            <a:ext cx="2181225" cy="485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4" name="Google Shape;294;p39"/>
          <p:cNvGrpSpPr/>
          <p:nvPr/>
        </p:nvGrpSpPr>
        <p:grpSpPr>
          <a:xfrm>
            <a:off x="476250" y="1714500"/>
            <a:ext cx="2524200" cy="4095900"/>
            <a:chOff x="0" y="0"/>
            <a:chExt cx="2524200" cy="4095900"/>
          </a:xfrm>
        </p:grpSpPr>
        <p:sp>
          <p:nvSpPr>
            <p:cNvPr id="295" name="Google Shape;295;p39"/>
            <p:cNvSpPr/>
            <p:nvPr/>
          </p:nvSpPr>
          <p:spPr>
            <a:xfrm>
              <a:off x="0" y="0"/>
              <a:ext cx="2524200" cy="4095900"/>
            </a:xfrm>
            <a:prstGeom prst="roundRect">
              <a:avLst>
                <a:gd fmla="val 3018" name="adj"/>
              </a:avLst>
            </a:prstGeom>
            <a:solidFill>
              <a:srgbClr val="F0FDF4"/>
            </a:solidFill>
            <a:ln cap="flat" cmpd="sng" w="14300">
              <a:solidFill>
                <a:srgbClr val="BBF7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9"/>
            <p:cNvSpPr txBox="1"/>
            <p:nvPr/>
          </p:nvSpPr>
          <p:spPr>
            <a:xfrm>
              <a:off x="0" y="0"/>
              <a:ext cx="2524200" cy="4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190500" spcFirstLastPara="1" rIns="1905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rgbClr val="16A3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6A3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Farmers &amp; Growers</a:t>
              </a:r>
              <a:endParaRPr b="1" sz="2400">
                <a:solidFill>
                  <a:srgbClr val="16A3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4290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14532D"/>
                </a:buClr>
                <a:buSzPts val="1800"/>
                <a:buFont typeface="Times New Roman"/>
                <a:buChar char="●"/>
              </a:pPr>
              <a:r>
                <a:rPr lang="en-US" sz="1800">
                  <a:solidFill>
                    <a:srgbClr val="14532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Optimize planting schedules.</a:t>
              </a:r>
              <a:endParaRPr sz="1800">
                <a:solidFill>
                  <a:srgbClr val="14532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4532D"/>
                </a:buClr>
                <a:buSzPts val="1800"/>
                <a:buFont typeface="Times New Roman"/>
                <a:buChar char="●"/>
              </a:pPr>
              <a:r>
                <a:rPr lang="en-US" sz="1800">
                  <a:solidFill>
                    <a:srgbClr val="14532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Maximize seasonal crop yields.</a:t>
              </a:r>
              <a:endParaRPr sz="1800">
                <a:solidFill>
                  <a:srgbClr val="14532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14532D"/>
                </a:buClr>
                <a:buSzPts val="1800"/>
                <a:buFont typeface="Times New Roman"/>
                <a:buChar char="●"/>
              </a:pPr>
              <a:r>
                <a:rPr lang="en-US" sz="1800">
                  <a:solidFill>
                    <a:srgbClr val="14532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Reduce resource waste.</a:t>
              </a:r>
              <a:endParaRPr sz="1800">
                <a:solidFill>
                  <a:srgbClr val="14532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97" name="Google Shape;297;p39"/>
          <p:cNvGrpSpPr/>
          <p:nvPr/>
        </p:nvGrpSpPr>
        <p:grpSpPr>
          <a:xfrm>
            <a:off x="3333750" y="1714500"/>
            <a:ext cx="2524200" cy="4095900"/>
            <a:chOff x="0" y="0"/>
            <a:chExt cx="2524200" cy="4095900"/>
          </a:xfrm>
        </p:grpSpPr>
        <p:sp>
          <p:nvSpPr>
            <p:cNvPr id="298" name="Google Shape;298;p39"/>
            <p:cNvSpPr/>
            <p:nvPr/>
          </p:nvSpPr>
          <p:spPr>
            <a:xfrm>
              <a:off x="0" y="0"/>
              <a:ext cx="2524200" cy="4095900"/>
            </a:xfrm>
            <a:prstGeom prst="roundRect">
              <a:avLst>
                <a:gd fmla="val 3018" name="adj"/>
              </a:avLst>
            </a:prstGeom>
            <a:solidFill>
              <a:srgbClr val="F8FAFC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9"/>
            <p:cNvSpPr txBox="1"/>
            <p:nvPr/>
          </p:nvSpPr>
          <p:spPr>
            <a:xfrm>
              <a:off x="0" y="0"/>
              <a:ext cx="2524200" cy="4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190500" spcFirstLastPara="1" rIns="1905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rgbClr val="2E83C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2E83C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Agricultural Advisors</a:t>
              </a:r>
              <a:endParaRPr b="1" sz="2400">
                <a:solidFill>
                  <a:srgbClr val="2E83C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4290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334155"/>
                </a:buClr>
                <a:buSzPts val="1800"/>
                <a:buFont typeface="Times New Roman"/>
                <a:buChar char="●"/>
              </a:pPr>
              <a:r>
                <a:rPr lang="en-US" sz="180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Provide data-backed recommendations.</a:t>
              </a:r>
              <a:endParaRPr sz="180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800"/>
                <a:buFont typeface="Times New Roman"/>
                <a:buChar char="●"/>
              </a:pPr>
              <a:r>
                <a:rPr lang="en-US" sz="180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Improve resource allocation.</a:t>
              </a:r>
              <a:endParaRPr sz="180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334155"/>
                </a:buClr>
                <a:buSzPts val="1800"/>
                <a:buFont typeface="Times New Roman"/>
                <a:buChar char="●"/>
              </a:pPr>
              <a:r>
                <a:rPr lang="en-US" sz="180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Guide local farming practices.</a:t>
              </a:r>
              <a:endParaRPr sz="180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00" name="Google Shape;300;p39"/>
          <p:cNvGrpSpPr/>
          <p:nvPr/>
        </p:nvGrpSpPr>
        <p:grpSpPr>
          <a:xfrm>
            <a:off x="6191250" y="1714500"/>
            <a:ext cx="2524200" cy="4095900"/>
            <a:chOff x="0" y="0"/>
            <a:chExt cx="2524200" cy="4095900"/>
          </a:xfrm>
        </p:grpSpPr>
        <p:sp>
          <p:nvSpPr>
            <p:cNvPr id="301" name="Google Shape;301;p39"/>
            <p:cNvSpPr/>
            <p:nvPr/>
          </p:nvSpPr>
          <p:spPr>
            <a:xfrm>
              <a:off x="0" y="0"/>
              <a:ext cx="2524200" cy="4095900"/>
            </a:xfrm>
            <a:prstGeom prst="roundRect">
              <a:avLst>
                <a:gd fmla="val 3018" name="adj"/>
              </a:avLst>
            </a:prstGeom>
            <a:solidFill>
              <a:srgbClr val="FFF7ED"/>
            </a:solidFill>
            <a:ln cap="flat" cmpd="sng" w="14300">
              <a:solidFill>
                <a:srgbClr val="FED7A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9"/>
            <p:cNvSpPr txBox="1"/>
            <p:nvPr/>
          </p:nvSpPr>
          <p:spPr>
            <a:xfrm>
              <a:off x="0" y="0"/>
              <a:ext cx="2524200" cy="4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190500" spcFirstLastPara="1" rIns="1905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rgbClr val="EA580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EA580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Supply Chain Managers</a:t>
              </a:r>
              <a:endParaRPr b="1" sz="2400">
                <a:solidFill>
                  <a:srgbClr val="EA580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4290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31407"/>
                </a:buClr>
                <a:buSzPts val="1800"/>
                <a:buFont typeface="Arial"/>
                <a:buChar char="●"/>
              </a:pPr>
              <a:r>
                <a:rPr b="0" lang="en-US" sz="1800">
                  <a:solidFill>
                    <a:srgbClr val="431407"/>
                  </a:solidFill>
                  <a:latin typeface="Arial"/>
                  <a:ea typeface="Arial"/>
                  <a:cs typeface="Arial"/>
                  <a:sym typeface="Arial"/>
                </a:rPr>
                <a:t>Plan logistics &amp; transport early.</a:t>
              </a:r>
              <a:endParaRPr b="0" sz="1800">
                <a:solidFill>
                  <a:srgbClr val="43140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31407"/>
                </a:buClr>
                <a:buSzPts val="1800"/>
                <a:buFont typeface="Arial"/>
                <a:buChar char="●"/>
              </a:pPr>
              <a:r>
                <a:rPr b="0" lang="en-US" sz="1800">
                  <a:solidFill>
                    <a:srgbClr val="431407"/>
                  </a:solidFill>
                  <a:latin typeface="Arial"/>
                  <a:ea typeface="Arial"/>
                  <a:cs typeface="Arial"/>
                  <a:sym typeface="Arial"/>
                </a:rPr>
                <a:t>Estimate required storage space.</a:t>
              </a:r>
              <a:endParaRPr b="0" sz="1800">
                <a:solidFill>
                  <a:srgbClr val="43140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431407"/>
                </a:buClr>
                <a:buSzPts val="1800"/>
                <a:buFont typeface="Arial"/>
                <a:buChar char="●"/>
              </a:pPr>
              <a:r>
                <a:rPr b="0" lang="en-US" sz="1800">
                  <a:solidFill>
                    <a:srgbClr val="431407"/>
                  </a:solidFill>
                  <a:latin typeface="Arial"/>
                  <a:ea typeface="Arial"/>
                  <a:cs typeface="Arial"/>
                  <a:sym typeface="Arial"/>
                </a:rPr>
                <a:t>Prevent post-harvest losses.</a:t>
              </a:r>
              <a:endParaRPr b="0" sz="1800">
                <a:solidFill>
                  <a:srgbClr val="43140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3" name="Google Shape;303;p39"/>
          <p:cNvGrpSpPr/>
          <p:nvPr/>
        </p:nvGrpSpPr>
        <p:grpSpPr>
          <a:xfrm>
            <a:off x="9048750" y="1714500"/>
            <a:ext cx="2524200" cy="4095900"/>
            <a:chOff x="0" y="0"/>
            <a:chExt cx="2524200" cy="4095900"/>
          </a:xfrm>
        </p:grpSpPr>
        <p:sp>
          <p:nvSpPr>
            <p:cNvPr id="304" name="Google Shape;304;p39"/>
            <p:cNvSpPr/>
            <p:nvPr/>
          </p:nvSpPr>
          <p:spPr>
            <a:xfrm>
              <a:off x="0" y="0"/>
              <a:ext cx="2524200" cy="4095900"/>
            </a:xfrm>
            <a:prstGeom prst="roundRect">
              <a:avLst>
                <a:gd fmla="val 3018" name="adj"/>
              </a:avLst>
            </a:prstGeom>
            <a:solidFill>
              <a:srgbClr val="ECFEFF"/>
            </a:solidFill>
            <a:ln cap="flat" cmpd="sng" w="14300">
              <a:solidFill>
                <a:srgbClr val="A5F3F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39"/>
            <p:cNvSpPr txBox="1"/>
            <p:nvPr/>
          </p:nvSpPr>
          <p:spPr>
            <a:xfrm>
              <a:off x="0" y="0"/>
              <a:ext cx="2524200" cy="4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190500" spcFirstLastPara="1" rIns="1905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rgbClr val="0891B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891B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Financial Analysts</a:t>
              </a:r>
              <a:endParaRPr b="1" sz="2400">
                <a:solidFill>
                  <a:srgbClr val="0891B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4290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164E63"/>
                </a:buClr>
                <a:buSzPts val="1800"/>
                <a:buFont typeface="Arial"/>
                <a:buChar char="●"/>
              </a:pPr>
              <a:r>
                <a:rPr b="0" lang="en-US" sz="1800">
                  <a:solidFill>
                    <a:srgbClr val="164E63"/>
                  </a:solidFill>
                  <a:latin typeface="Arial"/>
                  <a:ea typeface="Arial"/>
                  <a:cs typeface="Arial"/>
                  <a:sym typeface="Arial"/>
                </a:rPr>
                <a:t>Forecast market prices.</a:t>
              </a:r>
              <a:endParaRPr b="0" sz="1800">
                <a:solidFill>
                  <a:srgbClr val="164E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64E63"/>
                </a:buClr>
                <a:buSzPts val="1800"/>
                <a:buFont typeface="Arial"/>
                <a:buChar char="●"/>
              </a:pPr>
              <a:r>
                <a:rPr b="0" lang="en-US" sz="1800">
                  <a:solidFill>
                    <a:srgbClr val="164E63"/>
                  </a:solidFill>
                  <a:latin typeface="Arial"/>
                  <a:ea typeface="Arial"/>
                  <a:cs typeface="Arial"/>
                  <a:sym typeface="Arial"/>
                </a:rPr>
                <a:t>Budget for seasonal dips.</a:t>
              </a:r>
              <a:endParaRPr b="0" sz="1800">
                <a:solidFill>
                  <a:srgbClr val="164E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164E63"/>
                </a:buClr>
                <a:buSzPts val="1800"/>
                <a:buFont typeface="Arial"/>
                <a:buChar char="●"/>
              </a:pPr>
              <a:r>
                <a:rPr b="0" lang="en-US" sz="1800">
                  <a:solidFill>
                    <a:srgbClr val="164E63"/>
                  </a:solidFill>
                  <a:latin typeface="Arial"/>
                  <a:ea typeface="Arial"/>
                  <a:cs typeface="Arial"/>
                  <a:sym typeface="Arial"/>
                </a:rPr>
                <a:t>Manage investment risks.</a:t>
              </a:r>
              <a:endParaRPr b="0" sz="1800">
                <a:solidFill>
                  <a:srgbClr val="164E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6" name="Google Shape;306;p39"/>
          <p:cNvSpPr txBox="1"/>
          <p:nvPr/>
        </p:nvSpPr>
        <p:spPr>
          <a:xfrm>
            <a:off x="476250" y="1878450"/>
            <a:ext cx="197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36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eco</a:t>
            </a:r>
            <a:endParaRPr/>
          </a:p>
        </p:txBody>
      </p:sp>
      <p:sp>
        <p:nvSpPr>
          <p:cNvPr id="307" name="Google Shape;307;p39"/>
          <p:cNvSpPr txBox="1"/>
          <p:nvPr/>
        </p:nvSpPr>
        <p:spPr>
          <a:xfrm>
            <a:off x="3420175" y="1878450"/>
            <a:ext cx="89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36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forum</a:t>
            </a:r>
            <a:endParaRPr/>
          </a:p>
        </p:txBody>
      </p:sp>
      <p:sp>
        <p:nvSpPr>
          <p:cNvPr id="308" name="Google Shape;308;p39"/>
          <p:cNvSpPr txBox="1"/>
          <p:nvPr/>
        </p:nvSpPr>
        <p:spPr>
          <a:xfrm>
            <a:off x="6322363" y="1878450"/>
            <a:ext cx="721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3600">
                <a:solidFill>
                  <a:srgbClr val="F97316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local_shipping</a:t>
            </a:r>
            <a:endParaRPr/>
          </a:p>
        </p:txBody>
      </p:sp>
      <p:sp>
        <p:nvSpPr>
          <p:cNvPr id="309" name="Google Shape;309;p39"/>
          <p:cNvSpPr txBox="1"/>
          <p:nvPr/>
        </p:nvSpPr>
        <p:spPr>
          <a:xfrm>
            <a:off x="9149088" y="1878450"/>
            <a:ext cx="89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3600">
                <a:solidFill>
                  <a:srgbClr val="06B6D4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trending_up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359" y="6410461"/>
            <a:ext cx="3706253" cy="296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50800" y="3820160"/>
            <a:ext cx="1727200" cy="3010024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40"/>
          <p:cNvSpPr txBox="1"/>
          <p:nvPr>
            <p:ph type="title"/>
          </p:nvPr>
        </p:nvSpPr>
        <p:spPr>
          <a:xfrm>
            <a:off x="660399" y="430567"/>
            <a:ext cx="5306291" cy="8478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Technology </a:t>
            </a: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Used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18" name="Google Shape;318;p40"/>
          <p:cNvGrpSpPr/>
          <p:nvPr/>
        </p:nvGrpSpPr>
        <p:grpSpPr>
          <a:xfrm>
            <a:off x="762000" y="2199050"/>
            <a:ext cx="3238500" cy="1047900"/>
            <a:chOff x="0" y="0"/>
            <a:chExt cx="3238500" cy="1047900"/>
          </a:xfrm>
        </p:grpSpPr>
        <p:sp>
          <p:nvSpPr>
            <p:cNvPr id="319" name="Google Shape;319;p40"/>
            <p:cNvSpPr/>
            <p:nvPr/>
          </p:nvSpPr>
          <p:spPr>
            <a:xfrm>
              <a:off x="0" y="0"/>
              <a:ext cx="3238500" cy="1047900"/>
            </a:xfrm>
            <a:prstGeom prst="roundRect">
              <a:avLst>
                <a:gd fmla="val 10909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40"/>
            <p:cNvSpPr txBox="1"/>
            <p:nvPr/>
          </p:nvSpPr>
          <p:spPr>
            <a:xfrm>
              <a:off x="190500" y="190500"/>
              <a:ext cx="2857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E83C3"/>
                  </a:solidFill>
                  <a:latin typeface="Arial"/>
                  <a:ea typeface="Arial"/>
                  <a:cs typeface="Arial"/>
                  <a:sym typeface="Arial"/>
                </a:rPr>
                <a:t>Python</a:t>
              </a:r>
              <a:endParaRPr b="1" sz="1400">
                <a:solidFill>
                  <a:srgbClr val="2E83C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Data analysis and overall project implementation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1" name="Google Shape;321;p40"/>
          <p:cNvGrpSpPr/>
          <p:nvPr/>
        </p:nvGrpSpPr>
        <p:grpSpPr>
          <a:xfrm>
            <a:off x="4191000" y="1333500"/>
            <a:ext cx="3238500" cy="1047900"/>
            <a:chOff x="0" y="0"/>
            <a:chExt cx="3238500" cy="1047900"/>
          </a:xfrm>
        </p:grpSpPr>
        <p:sp>
          <p:nvSpPr>
            <p:cNvPr id="322" name="Google Shape;322;p40"/>
            <p:cNvSpPr/>
            <p:nvPr/>
          </p:nvSpPr>
          <p:spPr>
            <a:xfrm>
              <a:off x="0" y="0"/>
              <a:ext cx="3238500" cy="1047900"/>
            </a:xfrm>
            <a:prstGeom prst="roundRect">
              <a:avLst>
                <a:gd fmla="val 10909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40"/>
            <p:cNvSpPr txBox="1"/>
            <p:nvPr/>
          </p:nvSpPr>
          <p:spPr>
            <a:xfrm>
              <a:off x="190500" y="190500"/>
              <a:ext cx="2857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E83C3"/>
                  </a:solidFill>
                  <a:latin typeface="Arial"/>
                  <a:ea typeface="Arial"/>
                  <a:cs typeface="Arial"/>
                  <a:sym typeface="Arial"/>
                </a:rPr>
                <a:t>Pandas</a:t>
              </a:r>
              <a:endParaRPr b="1" sz="1400">
                <a:solidFill>
                  <a:srgbClr val="2E83C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Data loading, cleaning, transformation and aggregation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4" name="Google Shape;324;p40"/>
          <p:cNvGrpSpPr/>
          <p:nvPr/>
        </p:nvGrpSpPr>
        <p:grpSpPr>
          <a:xfrm>
            <a:off x="7620000" y="1333500"/>
            <a:ext cx="3238500" cy="1047900"/>
            <a:chOff x="0" y="0"/>
            <a:chExt cx="3238500" cy="1047900"/>
          </a:xfrm>
        </p:grpSpPr>
        <p:sp>
          <p:nvSpPr>
            <p:cNvPr id="325" name="Google Shape;325;p40"/>
            <p:cNvSpPr/>
            <p:nvPr/>
          </p:nvSpPr>
          <p:spPr>
            <a:xfrm>
              <a:off x="0" y="0"/>
              <a:ext cx="3238500" cy="1047900"/>
            </a:xfrm>
            <a:prstGeom prst="roundRect">
              <a:avLst>
                <a:gd fmla="val 10909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40"/>
            <p:cNvSpPr txBox="1"/>
            <p:nvPr/>
          </p:nvSpPr>
          <p:spPr>
            <a:xfrm>
              <a:off x="190500" y="190500"/>
              <a:ext cx="2857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E83C3"/>
                  </a:solidFill>
                  <a:latin typeface="Arial"/>
                  <a:ea typeface="Arial"/>
                  <a:cs typeface="Arial"/>
                  <a:sym typeface="Arial"/>
                </a:rPr>
                <a:t>NumPy</a:t>
              </a:r>
              <a:endParaRPr b="1" sz="1400">
                <a:solidFill>
                  <a:srgbClr val="2E83C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Numerical calculations and data processing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7" name="Google Shape;327;p40"/>
          <p:cNvGrpSpPr/>
          <p:nvPr/>
        </p:nvGrpSpPr>
        <p:grpSpPr>
          <a:xfrm>
            <a:off x="4190987" y="4476600"/>
            <a:ext cx="3238519" cy="1047900"/>
            <a:chOff x="0" y="0"/>
            <a:chExt cx="2476500" cy="1047900"/>
          </a:xfrm>
        </p:grpSpPr>
        <p:sp>
          <p:nvSpPr>
            <p:cNvPr id="328" name="Google Shape;328;p40"/>
            <p:cNvSpPr/>
            <p:nvPr/>
          </p:nvSpPr>
          <p:spPr>
            <a:xfrm>
              <a:off x="0" y="0"/>
              <a:ext cx="2476500" cy="1047900"/>
            </a:xfrm>
            <a:prstGeom prst="roundRect">
              <a:avLst>
                <a:gd fmla="val 10909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40"/>
            <p:cNvSpPr txBox="1"/>
            <p:nvPr/>
          </p:nvSpPr>
          <p:spPr>
            <a:xfrm>
              <a:off x="190500" y="190500"/>
              <a:ext cx="2095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E83C3"/>
                  </a:solidFill>
                  <a:latin typeface="Arial"/>
                  <a:ea typeface="Arial"/>
                  <a:cs typeface="Arial"/>
                  <a:sym typeface="Arial"/>
                </a:rPr>
                <a:t>Matplotlib</a:t>
              </a:r>
              <a:endParaRPr b="1" sz="1400">
                <a:solidFill>
                  <a:srgbClr val="2E83C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Creating analytical visualizations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0" name="Google Shape;330;p40"/>
          <p:cNvGrpSpPr/>
          <p:nvPr/>
        </p:nvGrpSpPr>
        <p:grpSpPr>
          <a:xfrm>
            <a:off x="4190988" y="2905050"/>
            <a:ext cx="3238519" cy="1047900"/>
            <a:chOff x="0" y="0"/>
            <a:chExt cx="2476500" cy="1047900"/>
          </a:xfrm>
        </p:grpSpPr>
        <p:sp>
          <p:nvSpPr>
            <p:cNvPr id="331" name="Google Shape;331;p40"/>
            <p:cNvSpPr/>
            <p:nvPr/>
          </p:nvSpPr>
          <p:spPr>
            <a:xfrm>
              <a:off x="0" y="0"/>
              <a:ext cx="2476500" cy="1047900"/>
            </a:xfrm>
            <a:prstGeom prst="roundRect">
              <a:avLst>
                <a:gd fmla="val 10909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40"/>
            <p:cNvSpPr txBox="1"/>
            <p:nvPr/>
          </p:nvSpPr>
          <p:spPr>
            <a:xfrm>
              <a:off x="190500" y="190500"/>
              <a:ext cx="2095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E83C3"/>
                  </a:solidFill>
                  <a:latin typeface="Arial"/>
                  <a:ea typeface="Arial"/>
                  <a:cs typeface="Arial"/>
                  <a:sym typeface="Arial"/>
                </a:rPr>
                <a:t>Seaborn</a:t>
              </a:r>
              <a:endParaRPr b="1" sz="1400">
                <a:solidFill>
                  <a:srgbClr val="2E83C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Statistical plots and relationship visualization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3" name="Google Shape;333;p40"/>
          <p:cNvGrpSpPr/>
          <p:nvPr/>
        </p:nvGrpSpPr>
        <p:grpSpPr>
          <a:xfrm>
            <a:off x="7619988" y="2905050"/>
            <a:ext cx="3238519" cy="1047900"/>
            <a:chOff x="0" y="0"/>
            <a:chExt cx="2476500" cy="1047900"/>
          </a:xfrm>
        </p:grpSpPr>
        <p:sp>
          <p:nvSpPr>
            <p:cNvPr id="334" name="Google Shape;334;p40"/>
            <p:cNvSpPr/>
            <p:nvPr/>
          </p:nvSpPr>
          <p:spPr>
            <a:xfrm>
              <a:off x="0" y="0"/>
              <a:ext cx="2476500" cy="1047900"/>
            </a:xfrm>
            <a:prstGeom prst="roundRect">
              <a:avLst>
                <a:gd fmla="val 10909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40"/>
            <p:cNvSpPr txBox="1"/>
            <p:nvPr/>
          </p:nvSpPr>
          <p:spPr>
            <a:xfrm>
              <a:off x="190500" y="190500"/>
              <a:ext cx="2095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E83C3"/>
                  </a:solidFill>
                  <a:latin typeface="Arial"/>
                  <a:ea typeface="Arial"/>
                  <a:cs typeface="Arial"/>
                  <a:sym typeface="Arial"/>
                </a:rPr>
                <a:t>SciPy</a:t>
              </a:r>
              <a:endParaRPr b="1" sz="1400">
                <a:solidFill>
                  <a:srgbClr val="2E83C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Statistical analysis and hypothesis testing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6" name="Google Shape;336;p40"/>
          <p:cNvGrpSpPr/>
          <p:nvPr/>
        </p:nvGrpSpPr>
        <p:grpSpPr>
          <a:xfrm>
            <a:off x="7619975" y="4476600"/>
            <a:ext cx="3238538" cy="1047900"/>
            <a:chOff x="0" y="0"/>
            <a:chExt cx="2667000" cy="1047900"/>
          </a:xfrm>
        </p:grpSpPr>
        <p:sp>
          <p:nvSpPr>
            <p:cNvPr id="337" name="Google Shape;337;p40"/>
            <p:cNvSpPr/>
            <p:nvPr/>
          </p:nvSpPr>
          <p:spPr>
            <a:xfrm>
              <a:off x="0" y="0"/>
              <a:ext cx="2667000" cy="1047900"/>
            </a:xfrm>
            <a:prstGeom prst="roundRect">
              <a:avLst>
                <a:gd fmla="val 10909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40"/>
            <p:cNvSpPr txBox="1"/>
            <p:nvPr/>
          </p:nvSpPr>
          <p:spPr>
            <a:xfrm>
              <a:off x="190500" y="190500"/>
              <a:ext cx="2286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E83C3"/>
                  </a:solidFill>
                  <a:latin typeface="Arial"/>
                  <a:ea typeface="Arial"/>
                  <a:cs typeface="Arial"/>
                  <a:sym typeface="Arial"/>
                </a:rPr>
                <a:t>Jupyter Notebook</a:t>
              </a:r>
              <a:endParaRPr b="1" sz="1400">
                <a:solidFill>
                  <a:srgbClr val="2E83C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Development, analysis and documentation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41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41"/>
          <p:cNvSpPr txBox="1"/>
          <p:nvPr>
            <p:ph type="title"/>
          </p:nvPr>
        </p:nvSpPr>
        <p:spPr>
          <a:xfrm>
            <a:off x="675925" y="370600"/>
            <a:ext cx="9230100" cy="6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4467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&amp; PIPELINE</a:t>
            </a:r>
            <a:endParaRPr b="0" sz="1500">
              <a:solidFill>
                <a:srgbClr val="47556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Trebuchet MS"/>
              <a:buNone/>
            </a:pPr>
            <a:r>
              <a:t/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" name="Google Shape;345;p41"/>
          <p:cNvSpPr txBox="1"/>
          <p:nvPr/>
        </p:nvSpPr>
        <p:spPr>
          <a:xfrm>
            <a:off x="675950" y="1139350"/>
            <a:ext cx="8545200" cy="4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systematic data-driven workflow for seasonal agricultural performance analysis</a:t>
            </a:r>
            <a:endParaRPr sz="18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6" name="Google Shape;346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1625" y="3400425"/>
            <a:ext cx="7715400" cy="57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7" name="Google Shape;347;p41"/>
          <p:cNvGrpSpPr/>
          <p:nvPr/>
        </p:nvGrpSpPr>
        <p:grpSpPr>
          <a:xfrm>
            <a:off x="2476500" y="2000250"/>
            <a:ext cx="1333500" cy="2857500"/>
            <a:chOff x="0" y="0"/>
            <a:chExt cx="1333500" cy="2857500"/>
          </a:xfrm>
        </p:grpSpPr>
        <p:sp>
          <p:nvSpPr>
            <p:cNvPr id="348" name="Google Shape;348;p41"/>
            <p:cNvSpPr/>
            <p:nvPr/>
          </p:nvSpPr>
          <p:spPr>
            <a:xfrm>
              <a:off x="0" y="0"/>
              <a:ext cx="1333500" cy="2857500"/>
            </a:xfrm>
            <a:prstGeom prst="roundRect">
              <a:avLst>
                <a:gd fmla="val 14285" name="adj"/>
              </a:avLst>
            </a:prstGeom>
            <a:solidFill>
              <a:srgbClr val="ECFDF5"/>
            </a:solidFill>
            <a:ln cap="flat" cmpd="sng" w="19050">
              <a:solidFill>
                <a:srgbClr val="D1FA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41"/>
            <p:cNvSpPr/>
            <p:nvPr/>
          </p:nvSpPr>
          <p:spPr>
            <a:xfrm>
              <a:off x="419100" y="228600"/>
              <a:ext cx="495300" cy="495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41"/>
            <p:cNvSpPr txBox="1"/>
            <p:nvPr/>
          </p:nvSpPr>
          <p:spPr>
            <a:xfrm>
              <a:off x="0" y="0"/>
              <a:ext cx="1333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02</a:t>
              </a:r>
              <a:endParaRPr b="1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51" name="Google Shape;351;p41"/>
            <p:cNvSpPr txBox="1"/>
            <p:nvPr/>
          </p:nvSpPr>
          <p:spPr>
            <a:xfrm>
              <a:off x="95250" y="999236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cleaning_services</a:t>
              </a:r>
              <a:endParaRPr sz="32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52" name="Google Shape;352;p41"/>
            <p:cNvSpPr txBox="1"/>
            <p:nvPr/>
          </p:nvSpPr>
          <p:spPr>
            <a:xfrm>
              <a:off x="142875" y="1619250"/>
              <a:ext cx="1047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293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Data Cleaning</a:t>
              </a:r>
              <a:endParaRPr b="1" sz="120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Handling missing values &amp; noise</a:t>
              </a:r>
              <a:endParaRPr b="0" sz="950">
                <a:solidFill>
                  <a:srgbClr val="64748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353" name="Google Shape;353;p41"/>
          <p:cNvGrpSpPr/>
          <p:nvPr/>
        </p:nvGrpSpPr>
        <p:grpSpPr>
          <a:xfrm>
            <a:off x="3952875" y="2000250"/>
            <a:ext cx="1333500" cy="2857500"/>
            <a:chOff x="0" y="0"/>
            <a:chExt cx="1333500" cy="2857500"/>
          </a:xfrm>
        </p:grpSpPr>
        <p:sp>
          <p:nvSpPr>
            <p:cNvPr id="354" name="Google Shape;354;p41"/>
            <p:cNvSpPr/>
            <p:nvPr/>
          </p:nvSpPr>
          <p:spPr>
            <a:xfrm>
              <a:off x="0" y="0"/>
              <a:ext cx="1333500" cy="2857500"/>
            </a:xfrm>
            <a:prstGeom prst="roundRect">
              <a:avLst>
                <a:gd fmla="val 14285" name="adj"/>
              </a:avLst>
            </a:prstGeom>
            <a:solidFill>
              <a:srgbClr val="FFFBEB"/>
            </a:solidFill>
            <a:ln cap="flat" cmpd="sng" w="19050">
              <a:solidFill>
                <a:srgbClr val="FEF3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41"/>
            <p:cNvSpPr/>
            <p:nvPr/>
          </p:nvSpPr>
          <p:spPr>
            <a:xfrm>
              <a:off x="419100" y="228600"/>
              <a:ext cx="495300" cy="495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41"/>
            <p:cNvSpPr txBox="1"/>
            <p:nvPr/>
          </p:nvSpPr>
          <p:spPr>
            <a:xfrm>
              <a:off x="0" y="0"/>
              <a:ext cx="1333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03</a:t>
              </a:r>
              <a:endParaRPr b="1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57" name="Google Shape;357;p41"/>
            <p:cNvSpPr txBox="1"/>
            <p:nvPr/>
          </p:nvSpPr>
          <p:spPr>
            <a:xfrm>
              <a:off x="95250" y="999236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build</a:t>
              </a:r>
              <a:endParaRPr sz="32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58" name="Google Shape;358;p41"/>
            <p:cNvSpPr txBox="1"/>
            <p:nvPr/>
          </p:nvSpPr>
          <p:spPr>
            <a:xfrm>
              <a:off x="142875" y="1619250"/>
              <a:ext cx="1047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1E293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Feature Engineering</a:t>
              </a:r>
              <a:endParaRPr b="1" sz="115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Deriving seasonal indicators</a:t>
              </a:r>
              <a:endParaRPr b="0" sz="950">
                <a:solidFill>
                  <a:srgbClr val="64748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359" name="Google Shape;359;p41"/>
          <p:cNvGrpSpPr/>
          <p:nvPr/>
        </p:nvGrpSpPr>
        <p:grpSpPr>
          <a:xfrm>
            <a:off x="5429250" y="2000250"/>
            <a:ext cx="1333500" cy="2857500"/>
            <a:chOff x="0" y="0"/>
            <a:chExt cx="1333500" cy="2857500"/>
          </a:xfrm>
        </p:grpSpPr>
        <p:sp>
          <p:nvSpPr>
            <p:cNvPr id="360" name="Google Shape;360;p41"/>
            <p:cNvSpPr/>
            <p:nvPr/>
          </p:nvSpPr>
          <p:spPr>
            <a:xfrm>
              <a:off x="0" y="0"/>
              <a:ext cx="1333500" cy="2857500"/>
            </a:xfrm>
            <a:prstGeom prst="roundRect">
              <a:avLst>
                <a:gd fmla="val 14285" name="adj"/>
              </a:avLst>
            </a:prstGeom>
            <a:solidFill>
              <a:srgbClr val="F5F3FF"/>
            </a:solidFill>
            <a:ln cap="flat" cmpd="sng" w="19050">
              <a:solidFill>
                <a:srgbClr val="EDE9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41"/>
            <p:cNvSpPr/>
            <p:nvPr/>
          </p:nvSpPr>
          <p:spPr>
            <a:xfrm>
              <a:off x="419100" y="228600"/>
              <a:ext cx="495300" cy="4953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41"/>
            <p:cNvSpPr txBox="1"/>
            <p:nvPr/>
          </p:nvSpPr>
          <p:spPr>
            <a:xfrm>
              <a:off x="0" y="0"/>
              <a:ext cx="1333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04</a:t>
              </a:r>
              <a:endParaRPr b="1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63" name="Google Shape;363;p41"/>
            <p:cNvSpPr txBox="1"/>
            <p:nvPr/>
          </p:nvSpPr>
          <p:spPr>
            <a:xfrm>
              <a:off x="95250" y="999236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bar_chart</a:t>
              </a:r>
              <a:endParaRPr sz="3200">
                <a:solidFill>
                  <a:srgbClr val="8B5C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64" name="Google Shape;364;p41"/>
            <p:cNvSpPr txBox="1"/>
            <p:nvPr/>
          </p:nvSpPr>
          <p:spPr>
            <a:xfrm>
              <a:off x="142875" y="1619250"/>
              <a:ext cx="1047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293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EDA &amp; Visuals</a:t>
              </a:r>
              <a:endParaRPr b="1" sz="120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Exploratory plots &amp; trends</a:t>
              </a:r>
              <a:endParaRPr b="0" sz="950">
                <a:solidFill>
                  <a:srgbClr val="64748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365" name="Google Shape;365;p41"/>
          <p:cNvGrpSpPr/>
          <p:nvPr/>
        </p:nvGrpSpPr>
        <p:grpSpPr>
          <a:xfrm>
            <a:off x="6905625" y="2000250"/>
            <a:ext cx="1333500" cy="2857500"/>
            <a:chOff x="0" y="0"/>
            <a:chExt cx="1333500" cy="2857500"/>
          </a:xfrm>
        </p:grpSpPr>
        <p:sp>
          <p:nvSpPr>
            <p:cNvPr id="366" name="Google Shape;366;p41"/>
            <p:cNvSpPr/>
            <p:nvPr/>
          </p:nvSpPr>
          <p:spPr>
            <a:xfrm>
              <a:off x="0" y="0"/>
              <a:ext cx="1333500" cy="2857500"/>
            </a:xfrm>
            <a:prstGeom prst="roundRect">
              <a:avLst>
                <a:gd fmla="val 14285" name="adj"/>
              </a:avLst>
            </a:prstGeom>
            <a:solidFill>
              <a:srgbClr val="FFF1F2"/>
            </a:solidFill>
            <a:ln cap="flat" cmpd="sng" w="19050">
              <a:solidFill>
                <a:srgbClr val="FFE4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41"/>
            <p:cNvSpPr/>
            <p:nvPr/>
          </p:nvSpPr>
          <p:spPr>
            <a:xfrm>
              <a:off x="419100" y="228600"/>
              <a:ext cx="495300" cy="495300"/>
            </a:xfrm>
            <a:prstGeom prst="ellipse">
              <a:avLst/>
            </a:pr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41"/>
            <p:cNvSpPr txBox="1"/>
            <p:nvPr/>
          </p:nvSpPr>
          <p:spPr>
            <a:xfrm>
              <a:off x="0" y="0"/>
              <a:ext cx="1333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05</a:t>
              </a:r>
              <a:endParaRPr b="1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69" name="Google Shape;369;p41"/>
            <p:cNvSpPr txBox="1"/>
            <p:nvPr/>
          </p:nvSpPr>
          <p:spPr>
            <a:xfrm>
              <a:off x="95250" y="999236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43F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science</a:t>
              </a:r>
              <a:endParaRPr sz="3200">
                <a:solidFill>
                  <a:srgbClr val="F43F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70" name="Google Shape;370;p41"/>
            <p:cNvSpPr txBox="1"/>
            <p:nvPr/>
          </p:nvSpPr>
          <p:spPr>
            <a:xfrm>
              <a:off x="142875" y="1619250"/>
              <a:ext cx="1047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1E293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Statistical Analysis</a:t>
              </a:r>
              <a:endParaRPr b="1" sz="115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Hypothesis testing &amp; modeling</a:t>
              </a:r>
              <a:endParaRPr b="0" sz="950">
                <a:solidFill>
                  <a:srgbClr val="64748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371" name="Google Shape;371;p41"/>
          <p:cNvGrpSpPr/>
          <p:nvPr/>
        </p:nvGrpSpPr>
        <p:grpSpPr>
          <a:xfrm>
            <a:off x="8382000" y="2000250"/>
            <a:ext cx="1333500" cy="2857500"/>
            <a:chOff x="0" y="0"/>
            <a:chExt cx="1333500" cy="2857500"/>
          </a:xfrm>
        </p:grpSpPr>
        <p:sp>
          <p:nvSpPr>
            <p:cNvPr id="372" name="Google Shape;372;p41"/>
            <p:cNvSpPr/>
            <p:nvPr/>
          </p:nvSpPr>
          <p:spPr>
            <a:xfrm>
              <a:off x="0" y="0"/>
              <a:ext cx="1333500" cy="2857500"/>
            </a:xfrm>
            <a:prstGeom prst="roundRect">
              <a:avLst>
                <a:gd fmla="val 14285" name="adj"/>
              </a:avLst>
            </a:prstGeom>
            <a:solidFill>
              <a:srgbClr val="ECFEFF"/>
            </a:solidFill>
            <a:ln cap="flat" cmpd="sng" w="19050">
              <a:solidFill>
                <a:srgbClr val="CFF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41"/>
            <p:cNvSpPr/>
            <p:nvPr/>
          </p:nvSpPr>
          <p:spPr>
            <a:xfrm>
              <a:off x="419100" y="228600"/>
              <a:ext cx="495300" cy="49530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41"/>
            <p:cNvSpPr txBox="1"/>
            <p:nvPr/>
          </p:nvSpPr>
          <p:spPr>
            <a:xfrm>
              <a:off x="0" y="0"/>
              <a:ext cx="1333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06</a:t>
              </a:r>
              <a:endParaRPr b="1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75" name="Google Shape;375;p41"/>
            <p:cNvSpPr txBox="1"/>
            <p:nvPr/>
          </p:nvSpPr>
          <p:spPr>
            <a:xfrm>
              <a:off x="95250" y="999236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wb_sunny</a:t>
              </a:r>
              <a:endParaRPr sz="3200">
                <a:solidFill>
                  <a:srgbClr val="06B6D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76" name="Google Shape;376;p41"/>
            <p:cNvSpPr txBox="1"/>
            <p:nvPr/>
          </p:nvSpPr>
          <p:spPr>
            <a:xfrm>
              <a:off x="142875" y="1619250"/>
              <a:ext cx="1047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1E293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Seasonal Compare</a:t>
              </a:r>
              <a:endParaRPr b="1" sz="115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Kharif, Rabi, &amp; Zaid cross-study</a:t>
              </a:r>
              <a:endParaRPr b="0" sz="950">
                <a:solidFill>
                  <a:srgbClr val="64748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377" name="Google Shape;377;p41"/>
          <p:cNvGrpSpPr/>
          <p:nvPr/>
        </p:nvGrpSpPr>
        <p:grpSpPr>
          <a:xfrm>
            <a:off x="1000125" y="2000250"/>
            <a:ext cx="1333500" cy="2857500"/>
            <a:chOff x="0" y="0"/>
            <a:chExt cx="1333500" cy="2857500"/>
          </a:xfrm>
        </p:grpSpPr>
        <p:sp>
          <p:nvSpPr>
            <p:cNvPr id="378" name="Google Shape;378;p41"/>
            <p:cNvSpPr/>
            <p:nvPr/>
          </p:nvSpPr>
          <p:spPr>
            <a:xfrm>
              <a:off x="0" y="0"/>
              <a:ext cx="1333500" cy="2857500"/>
            </a:xfrm>
            <a:prstGeom prst="roundRect">
              <a:avLst>
                <a:gd fmla="val 14285" name="adj"/>
              </a:avLst>
            </a:prstGeom>
            <a:solidFill>
              <a:srgbClr val="EFF6FF"/>
            </a:solidFill>
            <a:ln cap="flat" cmpd="sng" w="19050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41"/>
            <p:cNvSpPr/>
            <p:nvPr/>
          </p:nvSpPr>
          <p:spPr>
            <a:xfrm>
              <a:off x="419100" y="228600"/>
              <a:ext cx="495300" cy="495300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41"/>
            <p:cNvSpPr txBox="1"/>
            <p:nvPr/>
          </p:nvSpPr>
          <p:spPr>
            <a:xfrm>
              <a:off x="0" y="0"/>
              <a:ext cx="1333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01</a:t>
              </a:r>
              <a:endParaRPr b="1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81" name="Google Shape;381;p41"/>
            <p:cNvSpPr txBox="1"/>
            <p:nvPr/>
          </p:nvSpPr>
          <p:spPr>
            <a:xfrm>
              <a:off x="95250" y="999236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database</a:t>
              </a:r>
              <a:endParaRPr sz="32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82" name="Google Shape;382;p41"/>
            <p:cNvSpPr txBox="1"/>
            <p:nvPr/>
          </p:nvSpPr>
          <p:spPr>
            <a:xfrm>
              <a:off x="142875" y="1619250"/>
              <a:ext cx="1047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293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Agricultural Dataset</a:t>
              </a:r>
              <a:endParaRPr b="1" sz="120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Initial raw farm-level records</a:t>
              </a:r>
              <a:endParaRPr b="0" sz="950">
                <a:solidFill>
                  <a:srgbClr val="64748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383" name="Google Shape;383;p41"/>
          <p:cNvGrpSpPr/>
          <p:nvPr/>
        </p:nvGrpSpPr>
        <p:grpSpPr>
          <a:xfrm>
            <a:off x="9858375" y="2000250"/>
            <a:ext cx="1333500" cy="2857500"/>
            <a:chOff x="0" y="0"/>
            <a:chExt cx="1333500" cy="2857500"/>
          </a:xfrm>
        </p:grpSpPr>
        <p:sp>
          <p:nvSpPr>
            <p:cNvPr id="384" name="Google Shape;384;p41"/>
            <p:cNvSpPr/>
            <p:nvPr/>
          </p:nvSpPr>
          <p:spPr>
            <a:xfrm>
              <a:off x="0" y="0"/>
              <a:ext cx="1333500" cy="2857500"/>
            </a:xfrm>
            <a:prstGeom prst="roundRect">
              <a:avLst>
                <a:gd fmla="val 14285" name="adj"/>
              </a:avLst>
            </a:prstGeom>
            <a:solidFill>
              <a:srgbClr val="EEF2FF"/>
            </a:solidFill>
            <a:ln cap="flat" cmpd="sng" w="19050">
              <a:solidFill>
                <a:srgbClr val="E0E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41"/>
            <p:cNvSpPr/>
            <p:nvPr/>
          </p:nvSpPr>
          <p:spPr>
            <a:xfrm>
              <a:off x="419100" y="228600"/>
              <a:ext cx="495300" cy="495300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41"/>
            <p:cNvSpPr txBox="1"/>
            <p:nvPr/>
          </p:nvSpPr>
          <p:spPr>
            <a:xfrm>
              <a:off x="0" y="0"/>
              <a:ext cx="1333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07</a:t>
              </a:r>
              <a:endParaRPr b="1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87" name="Google Shape;387;p41"/>
            <p:cNvSpPr txBox="1"/>
            <p:nvPr/>
          </p:nvSpPr>
          <p:spPr>
            <a:xfrm>
              <a:off x="95250" y="999236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lightbulb</a:t>
              </a:r>
              <a:endParaRPr sz="3200">
                <a:solidFill>
                  <a:srgbClr val="6366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88" name="Google Shape;388;p41"/>
            <p:cNvSpPr txBox="1"/>
            <p:nvPr/>
          </p:nvSpPr>
          <p:spPr>
            <a:xfrm>
              <a:off x="142875" y="1619250"/>
              <a:ext cx="1047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1E293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Insights &amp; Action</a:t>
              </a:r>
              <a:endParaRPr b="1" sz="115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Data-backed advisory output</a:t>
              </a:r>
              <a:endParaRPr b="0" sz="950">
                <a:solidFill>
                  <a:srgbClr val="64748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2"/>
          <p:cNvSpPr/>
          <p:nvPr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4" name="Google Shape;394;p42"/>
          <p:cNvSpPr/>
          <p:nvPr/>
        </p:nvSpPr>
        <p:spPr>
          <a:xfrm>
            <a:off x="6692791" y="1699889"/>
            <a:ext cx="319800" cy="31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5" name="Google Shape;395;p42"/>
          <p:cNvSpPr/>
          <p:nvPr/>
        </p:nvSpPr>
        <p:spPr>
          <a:xfrm>
            <a:off x="9354457" y="5897738"/>
            <a:ext cx="180000" cy="18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96" name="Google Shape;396;p42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42"/>
          <p:cNvSpPr txBox="1"/>
          <p:nvPr/>
        </p:nvSpPr>
        <p:spPr>
          <a:xfrm>
            <a:off x="320982" y="1275371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8" name="Google Shape;398;p42"/>
          <p:cNvSpPr txBox="1"/>
          <p:nvPr/>
        </p:nvSpPr>
        <p:spPr>
          <a:xfrm>
            <a:off x="4345694" y="1275371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99" name="Google Shape;399;p42"/>
          <p:cNvGrpSpPr/>
          <p:nvPr/>
        </p:nvGrpSpPr>
        <p:grpSpPr>
          <a:xfrm>
            <a:off x="666750" y="1381125"/>
            <a:ext cx="4000500" cy="4857900"/>
            <a:chOff x="0" y="0"/>
            <a:chExt cx="4000500" cy="4857900"/>
          </a:xfrm>
        </p:grpSpPr>
        <p:sp>
          <p:nvSpPr>
            <p:cNvPr id="400" name="Google Shape;400;p42"/>
            <p:cNvSpPr/>
            <p:nvPr/>
          </p:nvSpPr>
          <p:spPr>
            <a:xfrm>
              <a:off x="0" y="0"/>
              <a:ext cx="4000500" cy="4857900"/>
            </a:xfrm>
            <a:prstGeom prst="roundRect">
              <a:avLst>
                <a:gd fmla="val 3809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42"/>
            <p:cNvSpPr txBox="1"/>
            <p:nvPr/>
          </p:nvSpPr>
          <p:spPr>
            <a:xfrm>
              <a:off x="190500" y="190500"/>
              <a:ext cx="3619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2E83C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alt_route</a:t>
              </a:r>
              <a:r>
                <a:rPr b="1" lang="en-US" sz="1400">
                  <a:solidFill>
                    <a:srgbClr val="1E293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Data Preparation Workflow</a:t>
              </a:r>
              <a:endParaRPr b="1" sz="140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pic>
          <p:nvPicPr>
            <p:cNvPr id="402" name="Google Shape;402;p4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100" y="904875"/>
              <a:ext cx="19200" cy="33147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03" name="Google Shape;403;p42"/>
            <p:cNvGrpSpPr/>
            <p:nvPr/>
          </p:nvGrpSpPr>
          <p:grpSpPr>
            <a:xfrm>
              <a:off x="257175" y="666750"/>
              <a:ext cx="3362325" cy="381000"/>
              <a:chOff x="19050" y="0"/>
              <a:chExt cx="3362325" cy="381000"/>
            </a:xfrm>
          </p:grpSpPr>
          <p:sp>
            <p:nvSpPr>
              <p:cNvPr id="404" name="Google Shape;404;p42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42"/>
              <p:cNvSpPr txBox="1"/>
              <p:nvPr/>
            </p:nvSpPr>
            <p:spPr>
              <a:xfrm>
                <a:off x="66675" y="90043"/>
                <a:ext cx="2478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database</a:t>
                </a:r>
                <a:endParaRPr sz="16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06" name="Google Shape;406;p42"/>
              <p:cNvSpPr txBox="1"/>
              <p:nvPr/>
            </p:nvSpPr>
            <p:spPr>
              <a:xfrm>
                <a:off x="523875" y="0"/>
                <a:ext cx="2857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1E293B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1. Raw Dataset</a:t>
                </a:r>
                <a:endParaRPr b="1" sz="1150">
                  <a:solidFill>
                    <a:srgbClr val="1E293B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50">
                    <a:solidFill>
                      <a:srgbClr val="64748B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Initial agricultural performance dataset</a:t>
                </a:r>
                <a:endParaRPr sz="950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  <p:grpSp>
          <p:nvGrpSpPr>
            <p:cNvPr id="407" name="Google Shape;407;p42"/>
            <p:cNvGrpSpPr/>
            <p:nvPr/>
          </p:nvGrpSpPr>
          <p:grpSpPr>
            <a:xfrm>
              <a:off x="257175" y="1285875"/>
              <a:ext cx="3362325" cy="381000"/>
              <a:chOff x="19050" y="0"/>
              <a:chExt cx="3362325" cy="381000"/>
            </a:xfrm>
          </p:grpSpPr>
          <p:sp>
            <p:nvSpPr>
              <p:cNvPr id="408" name="Google Shape;408;p42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ECFDF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42"/>
              <p:cNvSpPr txBox="1"/>
              <p:nvPr/>
            </p:nvSpPr>
            <p:spPr>
              <a:xfrm>
                <a:off x="66675" y="90043"/>
                <a:ext cx="2478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059669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travel_explore</a:t>
                </a:r>
                <a:endParaRPr sz="160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10" name="Google Shape;410;p42"/>
              <p:cNvSpPr txBox="1"/>
              <p:nvPr/>
            </p:nvSpPr>
            <p:spPr>
              <a:xfrm>
                <a:off x="523875" y="0"/>
                <a:ext cx="2857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1E293B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2. Data Understanding</a:t>
                </a:r>
                <a:endParaRPr b="1" sz="1150">
                  <a:solidFill>
                    <a:srgbClr val="1E293B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50">
                    <a:solidFill>
                      <a:srgbClr val="64748B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Schema analysis and distribution profiling</a:t>
                </a:r>
                <a:endParaRPr sz="950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  <p:grpSp>
          <p:nvGrpSpPr>
            <p:cNvPr id="411" name="Google Shape;411;p42"/>
            <p:cNvGrpSpPr/>
            <p:nvPr/>
          </p:nvGrpSpPr>
          <p:grpSpPr>
            <a:xfrm>
              <a:off x="257175" y="1905000"/>
              <a:ext cx="3362325" cy="381000"/>
              <a:chOff x="19050" y="0"/>
              <a:chExt cx="3362325" cy="381000"/>
            </a:xfrm>
          </p:grpSpPr>
          <p:sp>
            <p:nvSpPr>
              <p:cNvPr id="412" name="Google Shape;412;p42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42"/>
              <p:cNvSpPr txBox="1"/>
              <p:nvPr/>
            </p:nvSpPr>
            <p:spPr>
              <a:xfrm>
                <a:off x="66675" y="90043"/>
                <a:ext cx="2478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D9770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running_with_errors</a:t>
                </a:r>
                <a:endParaRPr sz="1600">
                  <a:solidFill>
                    <a:srgbClr val="D9770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14" name="Google Shape;414;p42"/>
              <p:cNvSpPr txBox="1"/>
              <p:nvPr/>
            </p:nvSpPr>
            <p:spPr>
              <a:xfrm>
                <a:off x="523875" y="0"/>
                <a:ext cx="2857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1E293B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3. Missing Value Check</a:t>
                </a:r>
                <a:endParaRPr b="1" sz="1150">
                  <a:solidFill>
                    <a:srgbClr val="1E293B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50">
                    <a:solidFill>
                      <a:srgbClr val="64748B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Identifying null values and sparse features</a:t>
                </a:r>
                <a:endParaRPr sz="950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  <p:grpSp>
          <p:nvGrpSpPr>
            <p:cNvPr id="415" name="Google Shape;415;p42"/>
            <p:cNvGrpSpPr/>
            <p:nvPr/>
          </p:nvGrpSpPr>
          <p:grpSpPr>
            <a:xfrm>
              <a:off x="257175" y="2524125"/>
              <a:ext cx="3362325" cy="381000"/>
              <a:chOff x="19050" y="0"/>
              <a:chExt cx="3362325" cy="381000"/>
            </a:xfrm>
          </p:grpSpPr>
          <p:sp>
            <p:nvSpPr>
              <p:cNvPr id="416" name="Google Shape;416;p42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FFF1F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42"/>
              <p:cNvSpPr txBox="1"/>
              <p:nvPr/>
            </p:nvSpPr>
            <p:spPr>
              <a:xfrm>
                <a:off x="66675" y="90043"/>
                <a:ext cx="2478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E11D4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content_copy</a:t>
                </a:r>
                <a:endParaRPr sz="1600">
                  <a:solidFill>
                    <a:srgbClr val="E11D4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18" name="Google Shape;418;p42"/>
              <p:cNvSpPr txBox="1"/>
              <p:nvPr/>
            </p:nvSpPr>
            <p:spPr>
              <a:xfrm>
                <a:off x="523875" y="0"/>
                <a:ext cx="2857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1E293B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4. Duplicate &amp; Invalid Check</a:t>
                </a:r>
                <a:endParaRPr b="1" sz="1150">
                  <a:solidFill>
                    <a:srgbClr val="1E293B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50">
                    <a:solidFill>
                      <a:srgbClr val="64748B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Detecting redundancy and constraint violations</a:t>
                </a:r>
                <a:endParaRPr sz="950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  <p:grpSp>
          <p:nvGrpSpPr>
            <p:cNvPr id="419" name="Google Shape;419;p42"/>
            <p:cNvGrpSpPr/>
            <p:nvPr/>
          </p:nvGrpSpPr>
          <p:grpSpPr>
            <a:xfrm>
              <a:off x="257175" y="3143250"/>
              <a:ext cx="3362325" cy="381000"/>
              <a:chOff x="19050" y="0"/>
              <a:chExt cx="3362325" cy="381000"/>
            </a:xfrm>
          </p:grpSpPr>
          <p:sp>
            <p:nvSpPr>
              <p:cNvPr id="420" name="Google Shape;420;p42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F5F3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42"/>
              <p:cNvSpPr txBox="1"/>
              <p:nvPr/>
            </p:nvSpPr>
            <p:spPr>
              <a:xfrm>
                <a:off x="66675" y="90043"/>
                <a:ext cx="2478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7C3AED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cleaning_services</a:t>
                </a:r>
                <a:endParaRPr sz="160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22" name="Google Shape;422;p42"/>
              <p:cNvSpPr txBox="1"/>
              <p:nvPr/>
            </p:nvSpPr>
            <p:spPr>
              <a:xfrm>
                <a:off x="523875" y="0"/>
                <a:ext cx="2857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1E293B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5. Data Cleaning</a:t>
                </a:r>
                <a:endParaRPr b="1" sz="1150">
                  <a:solidFill>
                    <a:srgbClr val="1E293B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50">
                    <a:solidFill>
                      <a:srgbClr val="64748B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Type casting and outlier handling</a:t>
                </a:r>
                <a:endParaRPr sz="950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  <p:grpSp>
          <p:nvGrpSpPr>
            <p:cNvPr id="423" name="Google Shape;423;p42"/>
            <p:cNvGrpSpPr/>
            <p:nvPr/>
          </p:nvGrpSpPr>
          <p:grpSpPr>
            <a:xfrm>
              <a:off x="257175" y="3762375"/>
              <a:ext cx="3362325" cy="381000"/>
              <a:chOff x="19050" y="0"/>
              <a:chExt cx="3362325" cy="381000"/>
            </a:xfrm>
          </p:grpSpPr>
          <p:sp>
            <p:nvSpPr>
              <p:cNvPr id="424" name="Google Shape;424;p42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ECFE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42"/>
              <p:cNvSpPr txBox="1"/>
              <p:nvPr/>
            </p:nvSpPr>
            <p:spPr>
              <a:xfrm>
                <a:off x="66675" y="90043"/>
                <a:ext cx="2478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0891B2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construction</a:t>
                </a:r>
                <a:endParaRPr sz="1600">
                  <a:solidFill>
                    <a:srgbClr val="0891B2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26" name="Google Shape;426;p42"/>
              <p:cNvSpPr txBox="1"/>
              <p:nvPr/>
            </p:nvSpPr>
            <p:spPr>
              <a:xfrm>
                <a:off x="523875" y="0"/>
                <a:ext cx="2857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1E293B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6. Feature Engineering</a:t>
                </a:r>
                <a:endParaRPr b="1" sz="1150">
                  <a:solidFill>
                    <a:srgbClr val="1E293B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50">
                    <a:solidFill>
                      <a:srgbClr val="64748B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Deriving seasonal performance KPIs</a:t>
                </a:r>
                <a:endParaRPr sz="950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  <p:grpSp>
          <p:nvGrpSpPr>
            <p:cNvPr id="427" name="Google Shape;427;p42"/>
            <p:cNvGrpSpPr/>
            <p:nvPr/>
          </p:nvGrpSpPr>
          <p:grpSpPr>
            <a:xfrm>
              <a:off x="190500" y="4333875"/>
              <a:ext cx="3619500" cy="381000"/>
              <a:chOff x="0" y="0"/>
              <a:chExt cx="3619500" cy="381000"/>
            </a:xfrm>
          </p:grpSpPr>
          <p:sp>
            <p:nvSpPr>
              <p:cNvPr id="428" name="Google Shape;428;p42"/>
              <p:cNvSpPr/>
              <p:nvPr/>
            </p:nvSpPr>
            <p:spPr>
              <a:xfrm>
                <a:off x="0" y="0"/>
                <a:ext cx="3619500" cy="381000"/>
              </a:xfrm>
              <a:prstGeom prst="roundRect">
                <a:avLst>
                  <a:gd fmla="val 20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42"/>
              <p:cNvSpPr txBox="1"/>
              <p:nvPr/>
            </p:nvSpPr>
            <p:spPr>
              <a:xfrm>
                <a:off x="95250" y="0"/>
                <a:ext cx="3429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1E3A8A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Analysis:</a:t>
                </a:r>
                <a:r>
                  <a:rPr lang="en-US" sz="900">
                    <a:solidFill>
                      <a:srgbClr val="1E3A8A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 ANOVA + Kruskal-Wallis + IQR Outlier Analysis</a:t>
                </a:r>
                <a:endParaRPr sz="900">
                  <a:solidFill>
                    <a:srgbClr val="1E3A8A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</p:grpSp>
      <p:grpSp>
        <p:nvGrpSpPr>
          <p:cNvPr id="430" name="Google Shape;430;p42"/>
          <p:cNvGrpSpPr/>
          <p:nvPr/>
        </p:nvGrpSpPr>
        <p:grpSpPr>
          <a:xfrm>
            <a:off x="4905375" y="1381125"/>
            <a:ext cx="6572400" cy="4857900"/>
            <a:chOff x="0" y="0"/>
            <a:chExt cx="6572400" cy="4857900"/>
          </a:xfrm>
        </p:grpSpPr>
        <p:sp>
          <p:nvSpPr>
            <p:cNvPr id="431" name="Google Shape;431;p42"/>
            <p:cNvSpPr/>
            <p:nvPr/>
          </p:nvSpPr>
          <p:spPr>
            <a:xfrm>
              <a:off x="0" y="0"/>
              <a:ext cx="6572400" cy="4857900"/>
            </a:xfrm>
            <a:prstGeom prst="roundRect">
              <a:avLst>
                <a:gd fmla="val 3137" name="adj"/>
              </a:avLst>
            </a:prstGeom>
            <a:solidFill>
              <a:srgbClr val="0F172A"/>
            </a:solidFill>
            <a:ln cap="flat" cmpd="sng" w="1905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42"/>
            <p:cNvSpPr/>
            <p:nvPr/>
          </p:nvSpPr>
          <p:spPr>
            <a:xfrm>
              <a:off x="0" y="0"/>
              <a:ext cx="6572400" cy="428700"/>
            </a:xfrm>
            <a:custGeom>
              <a:rect b="b" l="l" r="r" t="t"/>
              <a:pathLst>
                <a:path extrusionOk="0" h="120000" w="120000">
                  <a:moveTo>
                    <a:pt x="0" y="42667"/>
                  </a:moveTo>
                  <a:cubicBezTo>
                    <a:pt x="0" y="31351"/>
                    <a:pt x="293" y="20499"/>
                    <a:pt x="815" y="12497"/>
                  </a:cubicBezTo>
                  <a:cubicBezTo>
                    <a:pt x="1337" y="4495"/>
                    <a:pt x="2045" y="0"/>
                    <a:pt x="2783" y="0"/>
                  </a:cubicBezTo>
                  <a:lnTo>
                    <a:pt x="117217" y="0"/>
                  </a:lnTo>
                  <a:cubicBezTo>
                    <a:pt x="117955" y="-2"/>
                    <a:pt x="118663" y="4493"/>
                    <a:pt x="119185" y="12495"/>
                  </a:cubicBezTo>
                  <a:cubicBezTo>
                    <a:pt x="119707" y="20496"/>
                    <a:pt x="120000" y="31350"/>
                    <a:pt x="120000" y="42667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42"/>
            <p:cNvSpPr/>
            <p:nvPr/>
          </p:nvSpPr>
          <p:spPr>
            <a:xfrm>
              <a:off x="180975" y="15240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42"/>
            <p:cNvSpPr/>
            <p:nvPr/>
          </p:nvSpPr>
          <p:spPr>
            <a:xfrm>
              <a:off x="352425" y="15240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42"/>
            <p:cNvSpPr/>
            <p:nvPr/>
          </p:nvSpPr>
          <p:spPr>
            <a:xfrm>
              <a:off x="523875" y="15240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42"/>
            <p:cNvSpPr txBox="1"/>
            <p:nvPr/>
          </p:nvSpPr>
          <p:spPr>
            <a:xfrm>
              <a:off x="809625" y="11430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methodology_pipeline.py</a:t>
              </a:r>
              <a:endParaRPr b="1" sz="10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37" name="Google Shape;437;p42"/>
            <p:cNvSpPr txBox="1"/>
            <p:nvPr/>
          </p:nvSpPr>
          <p:spPr>
            <a:xfrm>
              <a:off x="238125" y="619125"/>
              <a:ext cx="6096000" cy="404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8BDF8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# 1. Load Dataset</a:t>
              </a:r>
              <a:endParaRPr b="1" sz="1100">
                <a:solidFill>
                  <a:srgbClr val="38BDF8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DATA_PATH</a:t>
              </a:r>
              <a:r>
                <a:rPr lang="en-US" sz="10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= </a:t>
              </a:r>
              <a:r>
                <a:rPr lang="en-US" sz="10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"seasonal_agriculture_performance_dataset.csv"</a:t>
              </a:r>
              <a:endParaRPr sz="10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df</a:t>
              </a:r>
              <a:r>
                <a:rPr lang="en-US" sz="10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= pd.</a:t>
              </a:r>
              <a:r>
                <a:rPr lang="en-US" sz="100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read_csv</a:t>
              </a:r>
              <a:r>
                <a:rPr lang="en-US" sz="10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(DATA_PATH)</a:t>
              </a:r>
              <a:endParaRPr sz="10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8BDF8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# 2. Create Profit Margin Metric</a:t>
              </a:r>
              <a:endParaRPr b="1" sz="1100">
                <a:solidFill>
                  <a:srgbClr val="38BDF8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clean_df</a:t>
              </a:r>
              <a:r>
                <a:rPr lang="en-US" sz="10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</a:t>
              </a:r>
              <a:r>
                <a:rPr lang="en-US" sz="10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"Profit_Margin_pct"</a:t>
              </a:r>
              <a:r>
                <a:rPr lang="en-US" sz="10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 = np.</a:t>
              </a:r>
              <a:r>
                <a:rPr lang="en-US" sz="100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where</a:t>
              </a:r>
              <a:r>
                <a:rPr lang="en-US" sz="10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endParaRPr sz="10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clean_df</a:t>
              </a:r>
              <a:r>
                <a:rPr lang="en-US" sz="10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</a:t>
              </a:r>
              <a:r>
                <a:rPr lang="en-US" sz="10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"Revenue_INR"</a:t>
              </a:r>
              <a:r>
                <a:rPr lang="en-US" sz="10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 != </a:t>
              </a:r>
              <a:r>
                <a:rPr lang="en-US" sz="1000">
                  <a:solidFill>
                    <a:srgbClr val="F59E0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</a:t>
              </a:r>
              <a:r>
                <a:rPr lang="en-US" sz="10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0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en-US" sz="10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clean_df</a:t>
              </a:r>
              <a:r>
                <a:rPr lang="en-US" sz="10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</a:t>
              </a:r>
              <a:r>
                <a:rPr lang="en-US" sz="10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"Profit_INR"</a:t>
              </a:r>
              <a:r>
                <a:rPr lang="en-US" sz="10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 / </a:t>
              </a:r>
              <a:r>
                <a:rPr lang="en-US" sz="10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clean_df</a:t>
              </a:r>
              <a:r>
                <a:rPr lang="en-US" sz="10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</a:t>
              </a:r>
              <a:r>
                <a:rPr lang="en-US" sz="10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"Revenue_INR"</a:t>
              </a:r>
              <a:r>
                <a:rPr lang="en-US" sz="10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]) * </a:t>
              </a:r>
              <a:r>
                <a:rPr lang="en-US" sz="1000">
                  <a:solidFill>
                    <a:srgbClr val="F59E0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100</a:t>
              </a:r>
              <a:r>
                <a:rPr lang="en-US" sz="10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0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np.</a:t>
              </a:r>
              <a:r>
                <a:rPr lang="en-US" sz="1000">
                  <a:solidFill>
                    <a:srgbClr val="FB923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nan</a:t>
              </a:r>
              <a:endParaRPr sz="10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sz="10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8BDF8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# 3. Create Cost per Tonne Metric</a:t>
              </a:r>
              <a:endParaRPr b="1" sz="1100">
                <a:solidFill>
                  <a:srgbClr val="38BDF8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clean_df</a:t>
              </a:r>
              <a:r>
                <a:rPr lang="en-US" sz="10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</a:t>
              </a:r>
              <a:r>
                <a:rPr lang="en-US" sz="10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"Cost_per_Tonne_INR"</a:t>
              </a:r>
              <a:r>
                <a:rPr lang="en-US" sz="10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 = np.</a:t>
              </a:r>
              <a:r>
                <a:rPr lang="en-US" sz="100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where</a:t>
              </a:r>
              <a:r>
                <a:rPr lang="en-US" sz="10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endParaRPr sz="10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clean_df</a:t>
              </a:r>
              <a:r>
                <a:rPr lang="en-US" sz="10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</a:t>
              </a:r>
              <a:r>
                <a:rPr lang="en-US" sz="10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"Production_Tonnes"</a:t>
              </a:r>
              <a:r>
                <a:rPr lang="en-US" sz="10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 != </a:t>
              </a:r>
              <a:r>
                <a:rPr lang="en-US" sz="1000">
                  <a:solidFill>
                    <a:srgbClr val="F59E0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</a:t>
              </a:r>
              <a:r>
                <a:rPr lang="en-US" sz="10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0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clean_df</a:t>
              </a:r>
              <a:r>
                <a:rPr lang="en-US" sz="10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</a:t>
              </a:r>
              <a:r>
                <a:rPr lang="en-US" sz="10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"Total_Cost_INR"</a:t>
              </a:r>
              <a:r>
                <a:rPr lang="en-US" sz="10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 / </a:t>
              </a:r>
              <a:r>
                <a:rPr lang="en-US" sz="10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clean_df</a:t>
              </a:r>
              <a:r>
                <a:rPr lang="en-US" sz="10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</a:t>
              </a:r>
              <a:r>
                <a:rPr lang="en-US" sz="10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"Production_Tonnes"</a:t>
              </a:r>
              <a:r>
                <a:rPr lang="en-US" sz="10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],</a:t>
              </a:r>
              <a:endParaRPr sz="10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np.</a:t>
              </a:r>
              <a:r>
                <a:rPr lang="en-US" sz="1000">
                  <a:solidFill>
                    <a:srgbClr val="FB923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nan</a:t>
              </a:r>
              <a:endParaRPr sz="10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sz="10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438" name="Google Shape;438;p42"/>
          <p:cNvSpPr txBox="1"/>
          <p:nvPr>
            <p:ph type="title"/>
          </p:nvPr>
        </p:nvSpPr>
        <p:spPr>
          <a:xfrm>
            <a:off x="675957" y="370589"/>
            <a:ext cx="7620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sz="4000">
              <a:solidFill>
                <a:srgbClr val="0F172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Preparation, Cleaning Pipeline &amp; Key Methodology Code</a:t>
            </a:r>
            <a:endParaRPr b="0" sz="1500">
              <a:solidFill>
                <a:srgbClr val="47556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43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4" name="Google Shape;444;p43"/>
          <p:cNvGrpSpPr/>
          <p:nvPr/>
        </p:nvGrpSpPr>
        <p:grpSpPr>
          <a:xfrm>
            <a:off x="666750" y="1428750"/>
            <a:ext cx="10858650" cy="4857900"/>
            <a:chOff x="666750" y="1428750"/>
            <a:chExt cx="10858650" cy="4857900"/>
          </a:xfrm>
        </p:grpSpPr>
        <p:sp>
          <p:nvSpPr>
            <p:cNvPr id="445" name="Google Shape;445;p43"/>
            <p:cNvSpPr/>
            <p:nvPr/>
          </p:nvSpPr>
          <p:spPr>
            <a:xfrm>
              <a:off x="666750" y="1428750"/>
              <a:ext cx="5048400" cy="4857900"/>
            </a:xfrm>
            <a:prstGeom prst="roundRect">
              <a:avLst>
                <a:gd fmla="val 313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43"/>
            <p:cNvSpPr/>
            <p:nvPr/>
          </p:nvSpPr>
          <p:spPr>
            <a:xfrm>
              <a:off x="6477000" y="1428750"/>
              <a:ext cx="5048400" cy="4857900"/>
            </a:xfrm>
            <a:prstGeom prst="roundRect">
              <a:avLst>
                <a:gd fmla="val 313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7" name="Google Shape;447;p43"/>
          <p:cNvSpPr txBox="1"/>
          <p:nvPr>
            <p:ph type="title"/>
          </p:nvPr>
        </p:nvSpPr>
        <p:spPr>
          <a:xfrm>
            <a:off x="675935" y="370600"/>
            <a:ext cx="9240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Trebuchet MS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RESULTS 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b="0" lang="en-US" sz="15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Exploratory analysis of seasonal yields, profitability, and resource correlations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48" name="Google Shape;448;p43"/>
          <p:cNvGrpSpPr/>
          <p:nvPr/>
        </p:nvGrpSpPr>
        <p:grpSpPr>
          <a:xfrm>
            <a:off x="952500" y="1666875"/>
            <a:ext cx="4476900" cy="381000"/>
            <a:chOff x="0" y="0"/>
            <a:chExt cx="4476900" cy="381000"/>
          </a:xfrm>
        </p:grpSpPr>
        <p:sp>
          <p:nvSpPr>
            <p:cNvPr id="449" name="Google Shape;449;p43"/>
            <p:cNvSpPr/>
            <p:nvPr/>
          </p:nvSpPr>
          <p:spPr>
            <a:xfrm>
              <a:off x="0" y="0"/>
              <a:ext cx="44769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43"/>
            <p:cNvSpPr txBox="1"/>
            <p:nvPr/>
          </p:nvSpPr>
          <p:spPr>
            <a:xfrm>
              <a:off x="0" y="0"/>
              <a:ext cx="4476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2E83C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bar_chart</a:t>
              </a:r>
              <a:r>
                <a:rPr b="1" lang="en-US" sz="1600">
                  <a:solidFill>
                    <a:srgbClr val="0F172A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Seasonal Yield &amp; Profitability Metrics</a:t>
              </a:r>
              <a:endParaRPr b="1" sz="1600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451" name="Google Shape;451;p43"/>
          <p:cNvGrpSpPr/>
          <p:nvPr/>
        </p:nvGrpSpPr>
        <p:grpSpPr>
          <a:xfrm>
            <a:off x="6762750" y="1666875"/>
            <a:ext cx="4476900" cy="381000"/>
            <a:chOff x="0" y="0"/>
            <a:chExt cx="4476900" cy="381000"/>
          </a:xfrm>
        </p:grpSpPr>
        <p:sp>
          <p:nvSpPr>
            <p:cNvPr id="452" name="Google Shape;452;p43"/>
            <p:cNvSpPr/>
            <p:nvPr/>
          </p:nvSpPr>
          <p:spPr>
            <a:xfrm>
              <a:off x="0" y="0"/>
              <a:ext cx="44769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43"/>
            <p:cNvSpPr txBox="1"/>
            <p:nvPr/>
          </p:nvSpPr>
          <p:spPr>
            <a:xfrm>
              <a:off x="0" y="0"/>
              <a:ext cx="4476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2E83C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grid_on</a:t>
              </a:r>
              <a:r>
                <a:rPr b="1" lang="en-US" sz="1600">
                  <a:solidFill>
                    <a:srgbClr val="0F172A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Resource &amp; Environmental Correlations</a:t>
              </a:r>
              <a:endParaRPr b="1" sz="1600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pic>
        <p:nvPicPr>
          <p:cNvPr id="454" name="Google Shape;454;p43"/>
          <p:cNvPicPr preferRelativeResize="0"/>
          <p:nvPr/>
        </p:nvPicPr>
        <p:blipFill rotWithShape="1">
          <a:blip r:embed="rId4">
            <a:alphaModFix/>
          </a:blip>
          <a:srcRect b="10630" l="0" r="0" t="10630"/>
          <a:stretch/>
        </p:blipFill>
        <p:spPr>
          <a:xfrm>
            <a:off x="1143000" y="2143125"/>
            <a:ext cx="4095900" cy="20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43"/>
          <p:cNvPicPr preferRelativeResize="0"/>
          <p:nvPr/>
        </p:nvPicPr>
        <p:blipFill rotWithShape="1">
          <a:blip r:embed="rId5">
            <a:alphaModFix/>
          </a:blip>
          <a:srcRect b="10630" l="0" r="0" t="10630"/>
          <a:stretch/>
        </p:blipFill>
        <p:spPr>
          <a:xfrm>
            <a:off x="1143000" y="4191000"/>
            <a:ext cx="4095900" cy="20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43"/>
          <p:cNvPicPr preferRelativeResize="0"/>
          <p:nvPr/>
        </p:nvPicPr>
        <p:blipFill rotWithShape="1">
          <a:blip r:embed="rId6">
            <a:alphaModFix/>
          </a:blip>
          <a:srcRect b="338" l="0" r="0" t="338"/>
          <a:stretch/>
        </p:blipFill>
        <p:spPr>
          <a:xfrm>
            <a:off x="6810375" y="2333625"/>
            <a:ext cx="4381500" cy="333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p44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2" name="Google Shape;462;p44"/>
          <p:cNvGrpSpPr/>
          <p:nvPr/>
        </p:nvGrpSpPr>
        <p:grpSpPr>
          <a:xfrm>
            <a:off x="666750" y="1428750"/>
            <a:ext cx="10858500" cy="4857900"/>
            <a:chOff x="666750" y="1428750"/>
            <a:chExt cx="10858500" cy="4857900"/>
          </a:xfrm>
        </p:grpSpPr>
        <p:sp>
          <p:nvSpPr>
            <p:cNvPr id="463" name="Google Shape;463;p44"/>
            <p:cNvSpPr/>
            <p:nvPr/>
          </p:nvSpPr>
          <p:spPr>
            <a:xfrm>
              <a:off x="666750" y="1428750"/>
              <a:ext cx="5143500" cy="4857900"/>
            </a:xfrm>
            <a:prstGeom prst="roundRect">
              <a:avLst>
                <a:gd fmla="val 313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44"/>
            <p:cNvSpPr/>
            <p:nvPr/>
          </p:nvSpPr>
          <p:spPr>
            <a:xfrm>
              <a:off x="6381750" y="1428750"/>
              <a:ext cx="5143500" cy="4857900"/>
            </a:xfrm>
            <a:prstGeom prst="roundRect">
              <a:avLst>
                <a:gd fmla="val 313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5" name="Google Shape;465;p44"/>
          <p:cNvGrpSpPr/>
          <p:nvPr/>
        </p:nvGrpSpPr>
        <p:grpSpPr>
          <a:xfrm>
            <a:off x="952500" y="1666875"/>
            <a:ext cx="10287000" cy="381000"/>
            <a:chOff x="952500" y="1666875"/>
            <a:chExt cx="10287000" cy="381000"/>
          </a:xfrm>
        </p:grpSpPr>
        <p:sp>
          <p:nvSpPr>
            <p:cNvPr id="466" name="Google Shape;466;p44"/>
            <p:cNvSpPr txBox="1"/>
            <p:nvPr/>
          </p:nvSpPr>
          <p:spPr>
            <a:xfrm>
              <a:off x="952500" y="1666875"/>
              <a:ext cx="457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2E83C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table_chart</a:t>
              </a:r>
              <a:r>
                <a:rPr lang="en-US" sz="1600">
                  <a:solidFill>
                    <a:schemeClr val="dk1"/>
                  </a:solidFill>
                  <a:highlight>
                    <a:srgbClr val="FFFFFF"/>
                  </a:highlight>
                  <a:latin typeface="Trebuchet MS"/>
                  <a:ea typeface="Trebuchet MS"/>
                  <a:cs typeface="Trebuchet MS"/>
                  <a:sym typeface="Trebuchet MS"/>
                </a:rPr>
                <a:t>Average Profit Margin by Crop and Season</a:t>
              </a:r>
              <a:endParaRPr b="1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67" name="Google Shape;467;p44"/>
            <p:cNvSpPr txBox="1"/>
            <p:nvPr/>
          </p:nvSpPr>
          <p:spPr>
            <a:xfrm>
              <a:off x="6667500" y="1666875"/>
              <a:ext cx="457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2E83C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bar_chart</a:t>
              </a:r>
              <a:r>
                <a:rPr b="1" lang="en-US" sz="1600">
                  <a:solidFill>
                    <a:srgbClr val="0F172A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State &amp; Season Wise Average Profit</a:t>
              </a:r>
              <a:endParaRPr b="1" sz="2000">
                <a:solidFill>
                  <a:srgbClr val="2E83C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468" name="Google Shape;468;p44"/>
          <p:cNvSpPr txBox="1"/>
          <p:nvPr>
            <p:ph type="title"/>
          </p:nvPr>
        </p:nvSpPr>
        <p:spPr>
          <a:xfrm>
            <a:off x="675957" y="370589"/>
            <a:ext cx="85725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7625" lIns="47625" spcFirstLastPara="1" rIns="47625" wrap="square" tIns="476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</a:t>
            </a:r>
            <a:endParaRPr b="1" sz="3700">
              <a:solidFill>
                <a:srgbClr val="0F172A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475569"/>
                </a:solidFill>
                <a:latin typeface="Trebuchet MS"/>
                <a:ea typeface="Trebuchet MS"/>
                <a:cs typeface="Trebuchet MS"/>
                <a:sym typeface="Trebuchet MS"/>
              </a:rPr>
              <a:t>Comparative analysis of crop profit margins and state-level seasonal profitability</a:t>
            </a:r>
            <a:endParaRPr b="0" sz="1400">
              <a:solidFill>
                <a:srgbClr val="47556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69" name="Google Shape;469;p44"/>
          <p:cNvPicPr preferRelativeResize="0"/>
          <p:nvPr/>
        </p:nvPicPr>
        <p:blipFill rotWithShape="1">
          <a:blip r:embed="rId4">
            <a:alphaModFix/>
          </a:blip>
          <a:srcRect b="0" l="10273" r="10273" t="0"/>
          <a:stretch/>
        </p:blipFill>
        <p:spPr>
          <a:xfrm>
            <a:off x="857250" y="2238375"/>
            <a:ext cx="4762500" cy="371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44"/>
          <p:cNvPicPr preferRelativeResize="0"/>
          <p:nvPr/>
        </p:nvPicPr>
        <p:blipFill rotWithShape="1">
          <a:blip r:embed="rId5">
            <a:alphaModFix/>
          </a:blip>
          <a:srcRect b="0" l="5698" r="5689" t="0"/>
          <a:stretch/>
        </p:blipFill>
        <p:spPr>
          <a:xfrm>
            <a:off x="6572250" y="2619375"/>
            <a:ext cx="476250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45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45"/>
          <p:cNvSpPr txBox="1"/>
          <p:nvPr>
            <p:ph type="title"/>
          </p:nvPr>
        </p:nvSpPr>
        <p:spPr>
          <a:xfrm>
            <a:off x="675957" y="370589"/>
            <a:ext cx="7620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7625" lIns="47625" spcFirstLastPara="1" rIns="47625" wrap="square" tIns="476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00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</a:t>
            </a:r>
            <a:endParaRPr b="1" i="0" sz="3700">
              <a:solidFill>
                <a:srgbClr val="0F172A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i="0" lang="en-US" sz="1388">
                <a:solidFill>
                  <a:srgbClr val="475569"/>
                </a:solidFill>
                <a:latin typeface="Trebuchet MS"/>
                <a:ea typeface="Trebuchet MS"/>
                <a:cs typeface="Trebuchet MS"/>
                <a:sym typeface="Trebuchet MS"/>
              </a:rPr>
              <a:t>Seasonal Performance Evaluation &amp; Statistical Significance Testing</a:t>
            </a:r>
            <a:endParaRPr b="0" i="0" sz="1388">
              <a:solidFill>
                <a:srgbClr val="47556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77" name="Google Shape;477;p45"/>
          <p:cNvGrpSpPr/>
          <p:nvPr/>
        </p:nvGrpSpPr>
        <p:grpSpPr>
          <a:xfrm>
            <a:off x="666750" y="1428750"/>
            <a:ext cx="5048400" cy="4572000"/>
            <a:chOff x="0" y="0"/>
            <a:chExt cx="5048400" cy="4572000"/>
          </a:xfrm>
        </p:grpSpPr>
        <p:sp>
          <p:nvSpPr>
            <p:cNvPr id="478" name="Google Shape;478;p45"/>
            <p:cNvSpPr/>
            <p:nvPr/>
          </p:nvSpPr>
          <p:spPr>
            <a:xfrm>
              <a:off x="0" y="0"/>
              <a:ext cx="5048400" cy="4572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45"/>
            <p:cNvSpPr txBox="1"/>
            <p:nvPr/>
          </p:nvSpPr>
          <p:spPr>
            <a:xfrm>
              <a:off x="0" y="0"/>
              <a:ext cx="5048400" cy="457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2E83C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star</a:t>
              </a:r>
              <a:r>
                <a:rPr b="1" lang="en-US" sz="1800">
                  <a:solidFill>
                    <a:srgbClr val="0F172A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Key Metrics (Kharif Dominance)</a:t>
              </a:r>
              <a:endParaRPr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Across all parameters analyzed, the Kharif season demonstrated the highest performance averages compared to other crop seasons.</a:t>
              </a:r>
              <a:endParaRPr sz="1100">
                <a:solidFill>
                  <a:srgbClr val="64748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Highest Average Yield</a:t>
              </a:r>
              <a:endParaRPr b="1" sz="1200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75569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Kharif (5.63 t/ha)</a:t>
              </a:r>
              <a:endParaRPr sz="1100">
                <a:solidFill>
                  <a:srgbClr val="475569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payments</a:t>
              </a:r>
              <a:endParaRPr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Highest Average Profit</a:t>
              </a:r>
              <a:endParaRPr b="1" sz="1200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75569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Kharif (INR 178,915)</a:t>
              </a:r>
              <a:endParaRPr sz="1100">
                <a:solidFill>
                  <a:srgbClr val="475569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opacity</a:t>
              </a:r>
              <a:endParaRPr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Highest Water Efficiency</a:t>
              </a:r>
              <a:endParaRPr b="1" sz="1200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75569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Kharif (5.89 t/1,000 m³)</a:t>
              </a:r>
              <a:endParaRPr sz="1100">
                <a:solidFill>
                  <a:srgbClr val="475569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bug_report</a:t>
              </a:r>
              <a:endParaRPr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Disease &amp; Pest Risk</a:t>
              </a:r>
              <a:endParaRPr b="1" sz="1200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75569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Kharif (54.47%)</a:t>
              </a:r>
              <a:endParaRPr sz="1100">
                <a:solidFill>
                  <a:srgbClr val="475569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480" name="Google Shape;480;p45"/>
          <p:cNvGrpSpPr/>
          <p:nvPr/>
        </p:nvGrpSpPr>
        <p:grpSpPr>
          <a:xfrm>
            <a:off x="6477000" y="1428750"/>
            <a:ext cx="5048400" cy="4572000"/>
            <a:chOff x="0" y="0"/>
            <a:chExt cx="5048400" cy="4572000"/>
          </a:xfrm>
        </p:grpSpPr>
        <p:sp>
          <p:nvSpPr>
            <p:cNvPr id="481" name="Google Shape;481;p45"/>
            <p:cNvSpPr/>
            <p:nvPr/>
          </p:nvSpPr>
          <p:spPr>
            <a:xfrm>
              <a:off x="0" y="0"/>
              <a:ext cx="5048400" cy="4572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45"/>
            <p:cNvSpPr txBox="1"/>
            <p:nvPr/>
          </p:nvSpPr>
          <p:spPr>
            <a:xfrm>
              <a:off x="0" y="0"/>
              <a:ext cx="5048400" cy="457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F172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r>
                <a:rPr b="1" lang="en-US" sz="1800">
                  <a:solidFill>
                    <a:srgbClr val="0F172A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Statistical Testing</a:t>
              </a:r>
              <a:endParaRPr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293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ANOVA Hypothesis Tests</a:t>
              </a:r>
              <a:endParaRPr b="1" sz="120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Yield: F = 1.5439, p = 0.2137 (Not Sig.)</a:t>
              </a:r>
              <a:endParaRPr sz="1000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Profit: F = 34.2918, p = 1.71e-15 ***</a:t>
              </a:r>
              <a:endParaRPr b="1" sz="10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293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Kruskal-Wallis Rank Tests</a:t>
              </a:r>
              <a:endParaRPr b="1" sz="120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Yield: H-Stat = 68.71, p = 1.20e-15 ***</a:t>
              </a:r>
              <a:endParaRPr b="1" sz="10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Profit: H-Stat = 101.93, p = 7.36e-23 ***</a:t>
              </a:r>
              <a:endParaRPr b="1" sz="10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475569"/>
                  </a:solidFill>
                  <a:highlight>
                    <a:srgbClr val="F1F5F9"/>
                  </a:highlight>
                  <a:latin typeface="Material Icons"/>
                  <a:ea typeface="Material Icons"/>
                  <a:cs typeface="Material Icons"/>
                  <a:sym typeface="Material Icons"/>
                </a:rPr>
                <a:t>gavel</a:t>
              </a:r>
              <a:r>
                <a:rPr b="1" lang="en-US" sz="1100">
                  <a:solidFill>
                    <a:srgbClr val="334155"/>
                  </a:solidFill>
                  <a:highlight>
                    <a:srgbClr val="F1F5F9"/>
                  </a:highlight>
                  <a:latin typeface="Trebuchet MS"/>
                  <a:ea typeface="Trebuchet MS"/>
                  <a:cs typeface="Trebuchet MS"/>
                  <a:sym typeface="Trebuchet MS"/>
                </a:rPr>
                <a:t>Decision Rule</a:t>
              </a:r>
              <a:endParaRPr>
                <a:highlight>
                  <a:srgbClr val="F1F5F9"/>
                </a:highlight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75569"/>
                  </a:solidFill>
                  <a:highlight>
                    <a:srgbClr val="F1F5F9"/>
                  </a:highlight>
                  <a:latin typeface="Trebuchet MS"/>
                  <a:ea typeface="Trebuchet MS"/>
                  <a:cs typeface="Trebuchet MS"/>
                  <a:sym typeface="Trebuchet MS"/>
                </a:rPr>
                <a:t>A p-value &lt; 0.05 indicates robust empirical evidence of statistically significant variation among seasonal periods.</a:t>
              </a:r>
              <a:endParaRPr sz="1100">
                <a:solidFill>
                  <a:srgbClr val="475569"/>
                </a:solidFill>
                <a:highlight>
                  <a:srgbClr val="F1F5F9"/>
                </a:highlight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6"/>
          <p:cNvSpPr/>
          <p:nvPr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88" name="Google Shape;488;p46"/>
          <p:cNvSpPr/>
          <p:nvPr/>
        </p:nvSpPr>
        <p:spPr>
          <a:xfrm>
            <a:off x="9354457" y="5897738"/>
            <a:ext cx="180000" cy="18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89" name="Google Shape;489;p46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46"/>
          <p:cNvSpPr txBox="1"/>
          <p:nvPr>
            <p:ph type="title"/>
          </p:nvPr>
        </p:nvSpPr>
        <p:spPr>
          <a:xfrm>
            <a:off x="675957" y="370589"/>
            <a:ext cx="85725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</a:t>
            </a:r>
            <a:endParaRPr b="1" sz="3700">
              <a:solidFill>
                <a:srgbClr val="0F172A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475569"/>
                </a:solidFill>
                <a:latin typeface="Trebuchet MS"/>
                <a:ea typeface="Trebuchet MS"/>
                <a:cs typeface="Trebuchet MS"/>
                <a:sym typeface="Trebuchet MS"/>
              </a:rPr>
              <a:t>Comprehensive Seasonal Agriculture Performance Summary Table</a:t>
            </a:r>
            <a:endParaRPr b="0" sz="1400">
              <a:solidFill>
                <a:srgbClr val="47556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91" name="Google Shape;491;p46"/>
          <p:cNvGrpSpPr/>
          <p:nvPr/>
        </p:nvGrpSpPr>
        <p:grpSpPr>
          <a:xfrm>
            <a:off x="666750" y="1428750"/>
            <a:ext cx="10477650" cy="4572000"/>
            <a:chOff x="666750" y="1428750"/>
            <a:chExt cx="10477650" cy="4572000"/>
          </a:xfrm>
        </p:grpSpPr>
        <p:sp>
          <p:nvSpPr>
            <p:cNvPr id="492" name="Google Shape;492;p46"/>
            <p:cNvSpPr/>
            <p:nvPr/>
          </p:nvSpPr>
          <p:spPr>
            <a:xfrm>
              <a:off x="666750" y="1428750"/>
              <a:ext cx="5905500" cy="4572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46"/>
            <p:cNvSpPr/>
            <p:nvPr/>
          </p:nvSpPr>
          <p:spPr>
            <a:xfrm>
              <a:off x="6858000" y="1428750"/>
              <a:ext cx="4286400" cy="4572000"/>
            </a:xfrm>
            <a:prstGeom prst="roundRect">
              <a:avLst>
                <a:gd fmla="val 355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4" name="Google Shape;494;p46"/>
          <p:cNvGrpSpPr/>
          <p:nvPr/>
        </p:nvGrpSpPr>
        <p:grpSpPr>
          <a:xfrm>
            <a:off x="857250" y="1666875"/>
            <a:ext cx="5524500" cy="4143525"/>
            <a:chOff x="0" y="0"/>
            <a:chExt cx="5524500" cy="4143525"/>
          </a:xfrm>
        </p:grpSpPr>
        <p:sp>
          <p:nvSpPr>
            <p:cNvPr id="495" name="Google Shape;495;p46"/>
            <p:cNvSpPr txBox="1"/>
            <p:nvPr/>
          </p:nvSpPr>
          <p:spPr>
            <a:xfrm>
              <a:off x="0" y="0"/>
              <a:ext cx="552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2E83C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table_chart</a:t>
              </a:r>
              <a:r>
                <a:rPr b="1" lang="en-US" sz="1600">
                  <a:solidFill>
                    <a:srgbClr val="0F172A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Seasonal Performance Metrics</a:t>
              </a:r>
              <a:endParaRPr b="1" sz="2000">
                <a:solidFill>
                  <a:srgbClr val="2E83C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pic>
          <p:nvPicPr>
            <p:cNvPr id="496" name="Google Shape;496;p46"/>
            <p:cNvPicPr preferRelativeResize="0"/>
            <p:nvPr/>
          </p:nvPicPr>
          <p:blipFill rotWithShape="1">
            <a:blip r:embed="rId4">
              <a:alphaModFix/>
            </a:blip>
            <a:srcRect b="318" l="0" r="0" t="308"/>
            <a:stretch/>
          </p:blipFill>
          <p:spPr>
            <a:xfrm>
              <a:off x="95250" y="619125"/>
              <a:ext cx="5334000" cy="3524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7" name="Google Shape;497;p46"/>
          <p:cNvSpPr txBox="1"/>
          <p:nvPr/>
        </p:nvSpPr>
        <p:spPr>
          <a:xfrm>
            <a:off x="7143750" y="1666875"/>
            <a:ext cx="3714900" cy="4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E83C3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lightbulb</a:t>
            </a:r>
            <a:r>
              <a:rPr b="1" lang="en-US" sz="1600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Key Observations</a:t>
            </a:r>
            <a:endParaRPr b="1" sz="2000">
              <a:solidFill>
                <a:srgbClr val="2E83C3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Kharif Dominance</a:t>
            </a:r>
            <a:r>
              <a:rPr b="0" lang="en-US" sz="1100">
                <a:solidFill>
                  <a:srgbClr val="475569"/>
                </a:solidFill>
                <a:latin typeface="Trebuchet MS"/>
                <a:ea typeface="Trebuchet MS"/>
                <a:cs typeface="Trebuchet MS"/>
                <a:sym typeface="Trebuchet MS"/>
              </a:rPr>
              <a:t>Across almost all evaluated parameters, the Kharif season records the highest overall performance.</a:t>
            </a:r>
            <a:endParaRPr b="0" sz="1100">
              <a:solidFill>
                <a:srgbClr val="47556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135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Yield &amp; Efficiency Correlation</a:t>
            </a:r>
            <a:r>
              <a:rPr b="0" lang="en-US" sz="1100">
                <a:solidFill>
                  <a:srgbClr val="475569"/>
                </a:solidFill>
                <a:latin typeface="Trebuchet MS"/>
                <a:ea typeface="Trebuchet MS"/>
                <a:cs typeface="Trebuchet MS"/>
                <a:sym typeface="Trebuchet MS"/>
              </a:rPr>
              <a:t>Strong water efficiency (5.89 t/1000 m³) correlates directly with the highest average crop yields (5.63 t/ha).</a:t>
            </a:r>
            <a:endParaRPr b="0" sz="1100">
              <a:solidFill>
                <a:srgbClr val="47556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135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Zaid Season Viability</a:t>
            </a:r>
            <a:r>
              <a:rPr b="0" lang="en-US" sz="1100">
                <a:solidFill>
                  <a:srgbClr val="475569"/>
                </a:solidFill>
                <a:latin typeface="Trebuchet MS"/>
                <a:ea typeface="Trebuchet MS"/>
                <a:cs typeface="Trebuchet MS"/>
                <a:sym typeface="Trebuchet MS"/>
              </a:rPr>
              <a:t>Zaid exhibits the lowest average profit (INR -24,804.82), indicating potential areas for resource reallocation.</a:t>
            </a:r>
            <a:endParaRPr b="0" sz="1100">
              <a:solidFill>
                <a:srgbClr val="47556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135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Pest &amp; Disease Risks</a:t>
            </a:r>
            <a:r>
              <a:rPr b="0" lang="en-US" sz="1100">
                <a:solidFill>
                  <a:srgbClr val="475569"/>
                </a:solidFill>
                <a:latin typeface="Trebuchet MS"/>
                <a:ea typeface="Trebuchet MS"/>
                <a:cs typeface="Trebuchet MS"/>
                <a:sym typeface="Trebuchet MS"/>
              </a:rPr>
              <a:t>Higher moisture and average temperatures (31.04°C) during Zaid run parallel to varied seasonal crop risks.</a:t>
            </a:r>
            <a:endParaRPr b="0" sz="1100">
              <a:solidFill>
                <a:srgbClr val="47556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" name="Google Shape;502;p47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47"/>
          <p:cNvSpPr txBox="1"/>
          <p:nvPr>
            <p:ph type="title"/>
          </p:nvPr>
        </p:nvSpPr>
        <p:spPr>
          <a:xfrm>
            <a:off x="987957" y="508001"/>
            <a:ext cx="4735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rebuchet MS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04" name="Google Shape;504;p47"/>
          <p:cNvGrpSpPr/>
          <p:nvPr/>
        </p:nvGrpSpPr>
        <p:grpSpPr>
          <a:xfrm>
            <a:off x="1723250" y="1809750"/>
            <a:ext cx="4000500" cy="952500"/>
            <a:chOff x="0" y="0"/>
            <a:chExt cx="4000500" cy="952500"/>
          </a:xfrm>
        </p:grpSpPr>
        <p:sp>
          <p:nvSpPr>
            <p:cNvPr id="505" name="Google Shape;505;p47"/>
            <p:cNvSpPr/>
            <p:nvPr/>
          </p:nvSpPr>
          <p:spPr>
            <a:xfrm>
              <a:off x="0" y="0"/>
              <a:ext cx="4000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47"/>
            <p:cNvSpPr txBox="1"/>
            <p:nvPr/>
          </p:nvSpPr>
          <p:spPr>
            <a:xfrm>
              <a:off x="0" y="4089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2E83C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800">
                <a:solidFill>
                  <a:srgbClr val="2E83C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07" name="Google Shape;507;p47"/>
            <p:cNvSpPr txBox="1"/>
            <p:nvPr/>
          </p:nvSpPr>
          <p:spPr>
            <a:xfrm>
              <a:off x="495300" y="0"/>
              <a:ext cx="35052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202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Machine Learning Prediction</a:t>
              </a:r>
              <a:endParaRPr b="1" sz="1800">
                <a:solidFill>
                  <a:srgbClr val="1A202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4A556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Develop ML models to predict crop yield and agricultural performance.</a:t>
              </a:r>
              <a:endParaRPr>
                <a:solidFill>
                  <a:srgbClr val="4A5568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08" name="Google Shape;508;p47"/>
          <p:cNvGrpSpPr/>
          <p:nvPr/>
        </p:nvGrpSpPr>
        <p:grpSpPr>
          <a:xfrm>
            <a:off x="1723250" y="2933700"/>
            <a:ext cx="4000500" cy="952500"/>
            <a:chOff x="0" y="0"/>
            <a:chExt cx="4000500" cy="952500"/>
          </a:xfrm>
        </p:grpSpPr>
        <p:sp>
          <p:nvSpPr>
            <p:cNvPr id="509" name="Google Shape;509;p47"/>
            <p:cNvSpPr/>
            <p:nvPr/>
          </p:nvSpPr>
          <p:spPr>
            <a:xfrm>
              <a:off x="0" y="0"/>
              <a:ext cx="4000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47"/>
            <p:cNvSpPr txBox="1"/>
            <p:nvPr/>
          </p:nvSpPr>
          <p:spPr>
            <a:xfrm>
              <a:off x="0" y="4089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2E83C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dashboard</a:t>
              </a:r>
              <a:endParaRPr sz="2800">
                <a:solidFill>
                  <a:srgbClr val="2E83C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11" name="Google Shape;511;p47"/>
            <p:cNvSpPr txBox="1"/>
            <p:nvPr/>
          </p:nvSpPr>
          <p:spPr>
            <a:xfrm>
              <a:off x="495300" y="0"/>
              <a:ext cx="35052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202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Interactive Dashboard</a:t>
              </a:r>
              <a:endParaRPr b="1" sz="1800">
                <a:solidFill>
                  <a:srgbClr val="1A202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4A556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Develop a Power BI/web dashboard for real-time monitoring and decision-making.</a:t>
              </a:r>
              <a:endParaRPr>
                <a:solidFill>
                  <a:srgbClr val="4A5568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12" name="Google Shape;512;p47"/>
          <p:cNvGrpSpPr/>
          <p:nvPr/>
        </p:nvGrpSpPr>
        <p:grpSpPr>
          <a:xfrm>
            <a:off x="1723250" y="4095750"/>
            <a:ext cx="4000500" cy="952500"/>
            <a:chOff x="0" y="0"/>
            <a:chExt cx="4000500" cy="952500"/>
          </a:xfrm>
        </p:grpSpPr>
        <p:sp>
          <p:nvSpPr>
            <p:cNvPr id="513" name="Google Shape;513;p47"/>
            <p:cNvSpPr/>
            <p:nvPr/>
          </p:nvSpPr>
          <p:spPr>
            <a:xfrm>
              <a:off x="0" y="0"/>
              <a:ext cx="4000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47"/>
            <p:cNvSpPr txBox="1"/>
            <p:nvPr/>
          </p:nvSpPr>
          <p:spPr>
            <a:xfrm>
              <a:off x="0" y="4089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2E83C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public</a:t>
              </a:r>
              <a:endParaRPr sz="2800">
                <a:solidFill>
                  <a:srgbClr val="2E83C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15" name="Google Shape;515;p47"/>
            <p:cNvSpPr txBox="1"/>
            <p:nvPr/>
          </p:nvSpPr>
          <p:spPr>
            <a:xfrm>
              <a:off x="495300" y="0"/>
              <a:ext cx="35052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202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Regional-Level Analysis</a:t>
              </a:r>
              <a:endParaRPr b="1" sz="1800">
                <a:solidFill>
                  <a:srgbClr val="1A202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4A556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Expand the analysis to more states, districts and geographical regions.</a:t>
              </a:r>
              <a:endParaRPr>
                <a:solidFill>
                  <a:srgbClr val="4A5568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16" name="Google Shape;516;p47"/>
          <p:cNvGrpSpPr/>
          <p:nvPr/>
        </p:nvGrpSpPr>
        <p:grpSpPr>
          <a:xfrm>
            <a:off x="6468250" y="2933700"/>
            <a:ext cx="4000500" cy="952500"/>
            <a:chOff x="0" y="0"/>
            <a:chExt cx="4000500" cy="952500"/>
          </a:xfrm>
        </p:grpSpPr>
        <p:sp>
          <p:nvSpPr>
            <p:cNvPr id="517" name="Google Shape;517;p47"/>
            <p:cNvSpPr/>
            <p:nvPr/>
          </p:nvSpPr>
          <p:spPr>
            <a:xfrm>
              <a:off x="0" y="0"/>
              <a:ext cx="4000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47"/>
            <p:cNvSpPr txBox="1"/>
            <p:nvPr/>
          </p:nvSpPr>
          <p:spPr>
            <a:xfrm>
              <a:off x="0" y="4089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2E83C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sensors</a:t>
              </a:r>
              <a:endParaRPr sz="2800">
                <a:solidFill>
                  <a:srgbClr val="2E83C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19" name="Google Shape;519;p47"/>
            <p:cNvSpPr txBox="1"/>
            <p:nvPr/>
          </p:nvSpPr>
          <p:spPr>
            <a:xfrm>
              <a:off x="495300" y="0"/>
              <a:ext cx="35052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202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Real-Time Data Integration</a:t>
              </a:r>
              <a:endParaRPr b="1" sz="1800">
                <a:solidFill>
                  <a:srgbClr val="1A202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4A556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Incorporate live weather, rainfall, soil and market-price data.</a:t>
              </a:r>
              <a:endParaRPr>
                <a:solidFill>
                  <a:srgbClr val="4A5568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20" name="Google Shape;520;p47"/>
          <p:cNvGrpSpPr/>
          <p:nvPr/>
        </p:nvGrpSpPr>
        <p:grpSpPr>
          <a:xfrm>
            <a:off x="6468250" y="4095750"/>
            <a:ext cx="4000500" cy="952500"/>
            <a:chOff x="0" y="0"/>
            <a:chExt cx="4000500" cy="952500"/>
          </a:xfrm>
        </p:grpSpPr>
        <p:sp>
          <p:nvSpPr>
            <p:cNvPr id="521" name="Google Shape;521;p47"/>
            <p:cNvSpPr/>
            <p:nvPr/>
          </p:nvSpPr>
          <p:spPr>
            <a:xfrm>
              <a:off x="0" y="0"/>
              <a:ext cx="4000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47"/>
            <p:cNvSpPr txBox="1"/>
            <p:nvPr/>
          </p:nvSpPr>
          <p:spPr>
            <a:xfrm>
              <a:off x="0" y="4089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2E83C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 sz="2800">
                <a:solidFill>
                  <a:srgbClr val="2E83C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23" name="Google Shape;523;p47"/>
            <p:cNvSpPr txBox="1"/>
            <p:nvPr/>
          </p:nvSpPr>
          <p:spPr>
            <a:xfrm>
              <a:off x="495300" y="0"/>
              <a:ext cx="35052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202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Resource Optimization</a:t>
              </a:r>
              <a:endParaRPr b="1" sz="1800">
                <a:solidFill>
                  <a:srgbClr val="1A202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4A556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Use analytics to optimize water, fertilizer, pesticide and other resource usage.</a:t>
              </a:r>
              <a:endParaRPr>
                <a:solidFill>
                  <a:srgbClr val="4A5568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48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48"/>
          <p:cNvSpPr txBox="1"/>
          <p:nvPr>
            <p:ph type="title"/>
          </p:nvPr>
        </p:nvSpPr>
        <p:spPr>
          <a:xfrm>
            <a:off x="675957" y="599789"/>
            <a:ext cx="7620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GitHub Repository</a:t>
            </a:r>
            <a:endParaRPr b="1" sz="3700">
              <a:solidFill>
                <a:srgbClr val="0F172A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475569"/>
                </a:solidFill>
                <a:latin typeface="Trebuchet MS"/>
                <a:ea typeface="Trebuchet MS"/>
                <a:cs typeface="Trebuchet MS"/>
                <a:sym typeface="Trebuchet MS"/>
              </a:rPr>
              <a:t>Access the complete project codebase and analysis resources</a:t>
            </a:r>
            <a:endParaRPr b="0" sz="1400">
              <a:solidFill>
                <a:srgbClr val="47556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30" name="Google Shape;530;p48"/>
          <p:cNvSpPr/>
          <p:nvPr/>
        </p:nvSpPr>
        <p:spPr>
          <a:xfrm>
            <a:off x="771207" y="2247900"/>
            <a:ext cx="7429500" cy="3238500"/>
          </a:xfrm>
          <a:prstGeom prst="roundRect">
            <a:avLst>
              <a:gd fmla="val 4705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1" name="Google Shape;531;p48"/>
          <p:cNvGrpSpPr/>
          <p:nvPr/>
        </p:nvGrpSpPr>
        <p:grpSpPr>
          <a:xfrm>
            <a:off x="1143000" y="2628900"/>
            <a:ext cx="762000" cy="801433"/>
            <a:chOff x="0" y="0"/>
            <a:chExt cx="762000" cy="801433"/>
          </a:xfrm>
        </p:grpSpPr>
        <p:sp>
          <p:nvSpPr>
            <p:cNvPr id="532" name="Google Shape;532;p48"/>
            <p:cNvSpPr/>
            <p:nvPr/>
          </p:nvSpPr>
          <p:spPr>
            <a:xfrm>
              <a:off x="0" y="0"/>
              <a:ext cx="762000" cy="762000"/>
            </a:xfrm>
            <a:prstGeom prst="roundRect">
              <a:avLst>
                <a:gd fmla="val 50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48"/>
            <p:cNvSpPr txBox="1"/>
            <p:nvPr/>
          </p:nvSpPr>
          <p:spPr>
            <a:xfrm>
              <a:off x="0" y="39433"/>
              <a:ext cx="76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2E83C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endParaRPr sz="2700">
                <a:solidFill>
                  <a:srgbClr val="2E83C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534" name="Google Shape;534;p48"/>
          <p:cNvSpPr txBox="1"/>
          <p:nvPr/>
        </p:nvSpPr>
        <p:spPr>
          <a:xfrm>
            <a:off x="2190750" y="2628900"/>
            <a:ext cx="56199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VOIS Major Project</a:t>
            </a:r>
            <a:endParaRPr b="1" sz="2000">
              <a:solidFill>
                <a:srgbClr val="0F172A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Seasonal Agriculture Performance Analysis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Clone or browse the repository on GitHub: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E83C3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link</a:t>
            </a:r>
            <a:r>
              <a:rPr lang="en-US" sz="18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4"/>
              </a:rPr>
              <a:t>https://github.com/Coder-Pinku/VOIS_Major_Project_Seasonal_Agriculture_Performance_Analysis</a:t>
            </a:r>
            <a:endParaRPr b="1">
              <a:solidFill>
                <a:srgbClr val="2E83C3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Google Shape;539;p49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49"/>
          <p:cNvSpPr txBox="1"/>
          <p:nvPr>
            <p:ph type="title"/>
          </p:nvPr>
        </p:nvSpPr>
        <p:spPr>
          <a:xfrm>
            <a:off x="361423" y="357750"/>
            <a:ext cx="11312100" cy="8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VOIS Course completion certificate - Data Visualization 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1" name="Google Shape;541;p49"/>
          <p:cNvSpPr txBox="1"/>
          <p:nvPr/>
        </p:nvSpPr>
        <p:spPr>
          <a:xfrm>
            <a:off x="320982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42" name="Google Shape;542;p49" title="1788941215190-55e65a10-3149-4fea-9ec7-8720efbefacf_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3632" y="1123124"/>
            <a:ext cx="6504727" cy="461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0"/>
          <p:cNvSpPr txBox="1"/>
          <p:nvPr>
            <p:ph type="title"/>
          </p:nvPr>
        </p:nvSpPr>
        <p:spPr>
          <a:xfrm>
            <a:off x="2361000" y="2527800"/>
            <a:ext cx="7470000" cy="11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b="1" lang="en-US" sz="6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68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8" name="Google Shape;548;p50"/>
          <p:cNvSpPr txBox="1"/>
          <p:nvPr>
            <p:ph idx="8" type="body"/>
          </p:nvPr>
        </p:nvSpPr>
        <p:spPr>
          <a:xfrm>
            <a:off x="3727865" y="4641925"/>
            <a:ext cx="2139695" cy="1108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80"/>
              <a:buNone/>
            </a:pPr>
            <a:r>
              <a:rPr lang="en-US"/>
              <a:t>.</a:t>
            </a:r>
            <a:endParaRPr/>
          </a:p>
        </p:txBody>
      </p:sp>
      <p:pic>
        <p:nvPicPr>
          <p:cNvPr id="549" name="Google Shape;549;p50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